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issues that could be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2875" y="1628775"/>
            <a:ext cx="5943600" cy="438150"/>
          </a:xfrm>
          <a:prstGeom prst="rect">
            <a:avLst/>
          </a:prstGeom>
          <a:noFill/>
          <a:ln/>
        </p:spPr>
      </p:sp>
      <p:sp>
        <p:nvSpPr>
          <p:cNvPr id="3" name="Text 1"/>
          <p:cNvSpPr/>
          <p:nvPr/>
        </p:nvSpPr>
        <p:spPr>
          <a:xfrm>
            <a:off x="142875" y="1750219"/>
            <a:ext cx="847725" cy="195263"/>
          </a:xfrm>
          <a:prstGeom prst="rect">
            <a:avLst/>
          </a:prstGeom>
          <a:noFill/>
          <a:ln/>
        </p:spPr>
        <p:txBody>
          <a:bodyPr wrap="square" lIns="0" tIns="0" rIns="0" bIns="0" rtlCol="0" anchor="ctr"/>
          <a:lstStyle/>
          <a:p>
            <a:pPr algn="l" indent="0" marL="0">
              <a:lnSpc>
                <a:spcPts val="1457"/>
              </a:lnSpc>
              <a:buNone/>
            </a:pPr>
            <a:r>
              <a:rPr lang="en-US" sz="1283" b="1" spc="51" kern="0" dirty="0">
                <a:solidFill>
                  <a:srgbClr val="732142">
                    <a:alpha val="99000"/>
                  </a:srgbClr>
                </a:solidFill>
                <a:latin typeface="Georgia" pitchFamily="34" charset="0"/>
                <a:ea typeface="Georgia" pitchFamily="34" charset="-122"/>
                <a:cs typeface="Georgia" pitchFamily="34" charset="-120"/>
              </a:rPr>
              <a:t>UXID 111</a:t>
            </a:r>
            <a:endParaRPr lang="en-US" sz="1283" dirty="0"/>
          </a:p>
        </p:txBody>
      </p:sp>
      <p:sp>
        <p:nvSpPr>
          <p:cNvPr id="4" name="Shape 2"/>
          <p:cNvSpPr/>
          <p:nvPr/>
        </p:nvSpPr>
        <p:spPr>
          <a:xfrm rot="5400000">
            <a:off x="1231106" y="1845469"/>
            <a:ext cx="147638" cy="0"/>
          </a:xfrm>
          <a:prstGeom prst="line">
            <a:avLst/>
          </a:prstGeom>
          <a:noFill/>
          <a:ln w="18097">
            <a:solidFill>
              <a:srgbClr val="EAB855"/>
            </a:solidFill>
            <a:prstDash val="solid"/>
          </a:ln>
        </p:spPr>
      </p:sp>
      <p:sp>
        <p:nvSpPr>
          <p:cNvPr id="5" name="Text 3"/>
          <p:cNvSpPr/>
          <p:nvPr/>
        </p:nvSpPr>
        <p:spPr>
          <a:xfrm>
            <a:off x="1628775" y="1750219"/>
            <a:ext cx="852488" cy="195263"/>
          </a:xfrm>
          <a:prstGeom prst="rect">
            <a:avLst/>
          </a:prstGeom>
          <a:noFill/>
          <a:ln/>
        </p:spPr>
        <p:txBody>
          <a:bodyPr wrap="square" lIns="0" tIns="0" rIns="0" bIns="0" rtlCol="0" anchor="ctr"/>
          <a:lstStyle/>
          <a:p>
            <a:pPr algn="l" indent="0" marL="0">
              <a:lnSpc>
                <a:spcPts val="1457"/>
              </a:lnSpc>
              <a:buNone/>
            </a:pPr>
            <a:r>
              <a:rPr lang="en-US" sz="1283" b="1" spc="51" kern="0" dirty="0">
                <a:solidFill>
                  <a:srgbClr val="732142">
                    <a:alpha val="99000"/>
                  </a:srgbClr>
                </a:solidFill>
                <a:latin typeface="Georgia" pitchFamily="34" charset="0"/>
                <a:ea typeface="Georgia" pitchFamily="34" charset="-122"/>
                <a:cs typeface="Georgia" pitchFamily="34" charset="-120"/>
              </a:rPr>
              <a:t>10/02/25</a:t>
            </a:r>
            <a:endParaRPr lang="en-US" sz="1283" dirty="0"/>
          </a:p>
        </p:txBody>
      </p:sp>
      <p:sp>
        <p:nvSpPr>
          <p:cNvPr id="6" name="Shape 4"/>
          <p:cNvSpPr/>
          <p:nvPr/>
        </p:nvSpPr>
        <p:spPr>
          <a:xfrm rot="5400000">
            <a:off x="2721769" y="1845469"/>
            <a:ext cx="147638" cy="0"/>
          </a:xfrm>
          <a:prstGeom prst="line">
            <a:avLst/>
          </a:prstGeom>
          <a:noFill/>
          <a:ln w="18097">
            <a:solidFill>
              <a:srgbClr val="EAB855"/>
            </a:solidFill>
            <a:prstDash val="solid"/>
          </a:ln>
        </p:spPr>
      </p:sp>
      <p:sp>
        <p:nvSpPr>
          <p:cNvPr id="7" name="Text 5"/>
          <p:cNvSpPr/>
          <p:nvPr/>
        </p:nvSpPr>
        <p:spPr>
          <a:xfrm>
            <a:off x="3119438" y="1750219"/>
            <a:ext cx="1709738" cy="195263"/>
          </a:xfrm>
          <a:prstGeom prst="rect">
            <a:avLst/>
          </a:prstGeom>
          <a:noFill/>
          <a:ln/>
        </p:spPr>
        <p:txBody>
          <a:bodyPr wrap="square" lIns="0" tIns="0" rIns="0" bIns="0" rtlCol="0" anchor="ctr"/>
          <a:lstStyle/>
          <a:p>
            <a:pPr algn="l" indent="0" marL="0">
              <a:lnSpc>
                <a:spcPts val="1457"/>
              </a:lnSpc>
              <a:buNone/>
            </a:pPr>
            <a:r>
              <a:rPr lang="en-US" sz="1283" b="1" spc="51" kern="0" dirty="0">
                <a:solidFill>
                  <a:srgbClr val="732142">
                    <a:alpha val="99000"/>
                  </a:srgbClr>
                </a:solidFill>
                <a:latin typeface="Georgia" pitchFamily="34" charset="0"/>
                <a:ea typeface="Georgia" pitchFamily="34" charset="-122"/>
                <a:cs typeface="Georgia" pitchFamily="34" charset="-120"/>
              </a:rPr>
              <a:t>KEIRA VAUGHAN</a:t>
            </a:r>
            <a:endParaRPr lang="en-US" sz="1283" dirty="0"/>
          </a:p>
        </p:txBody>
      </p:sp>
      <p:sp>
        <p:nvSpPr>
          <p:cNvPr id="8" name="Shape 6"/>
          <p:cNvSpPr/>
          <p:nvPr/>
        </p:nvSpPr>
        <p:spPr>
          <a:xfrm rot="5400000">
            <a:off x="5069681" y="1845469"/>
            <a:ext cx="147638" cy="0"/>
          </a:xfrm>
          <a:prstGeom prst="line">
            <a:avLst/>
          </a:prstGeom>
          <a:noFill/>
          <a:ln w="18097">
            <a:solidFill>
              <a:srgbClr val="EAB855"/>
            </a:solidFill>
            <a:prstDash val="solid"/>
          </a:ln>
        </p:spPr>
      </p:sp>
      <p:sp>
        <p:nvSpPr>
          <p:cNvPr id="9" name="Text 7"/>
          <p:cNvSpPr/>
          <p:nvPr/>
        </p:nvSpPr>
        <p:spPr>
          <a:xfrm>
            <a:off x="5467350" y="1750219"/>
            <a:ext cx="619125" cy="195263"/>
          </a:xfrm>
          <a:prstGeom prst="rect">
            <a:avLst/>
          </a:prstGeom>
          <a:noFill/>
          <a:ln/>
        </p:spPr>
        <p:txBody>
          <a:bodyPr wrap="square" lIns="0" tIns="0" rIns="0" bIns="0" rtlCol="0" anchor="ctr"/>
          <a:lstStyle/>
          <a:p>
            <a:pPr algn="l" indent="0" marL="0">
              <a:lnSpc>
                <a:spcPts val="1457"/>
              </a:lnSpc>
              <a:buNone/>
            </a:pPr>
            <a:r>
              <a:rPr lang="en-US" sz="1283" b="1" spc="51" kern="0" dirty="0">
                <a:solidFill>
                  <a:srgbClr val="732142">
                    <a:alpha val="99000"/>
                  </a:srgbClr>
                </a:solidFill>
                <a:latin typeface="Georgia" pitchFamily="34" charset="0"/>
                <a:ea typeface="Georgia" pitchFamily="34" charset="-122"/>
                <a:cs typeface="Georgia" pitchFamily="34" charset="-120"/>
              </a:rPr>
              <a:t>KAV77</a:t>
            </a:r>
            <a:endParaRPr lang="en-US" sz="1283" dirty="0"/>
          </a:p>
        </p:txBody>
      </p:sp>
      <p:pic>
        <p:nvPicPr>
          <p:cNvPr id="10" name="Image 0" descr="preencoded.png">    </p:cNvPr>
          <p:cNvPicPr>
            <a:picLocks noChangeAspect="1"/>
          </p:cNvPicPr>
          <p:nvPr/>
        </p:nvPicPr>
        <p:blipFill>
          <a:blip r:embed="rId1"/>
          <a:srcRect l="0" r="0" t="0" b="0"/>
          <a:stretch/>
        </p:blipFill>
        <p:spPr>
          <a:xfrm>
            <a:off x="3262313" y="2219325"/>
            <a:ext cx="5634038" cy="2233613"/>
          </a:xfrm>
          <a:prstGeom prst="rect">
            <a:avLst/>
          </a:prstGeom>
        </p:spPr>
      </p:pic>
      <p:sp>
        <p:nvSpPr>
          <p:cNvPr id="11" name="Shape 8"/>
          <p:cNvSpPr/>
          <p:nvPr/>
        </p:nvSpPr>
        <p:spPr>
          <a:xfrm>
            <a:off x="-1085850" y="-3228975"/>
            <a:ext cx="16287750" cy="10591800"/>
          </a:xfrm>
          <a:prstGeom prst="rect">
            <a:avLst/>
          </a:prstGeom>
          <a:noFill/>
          <a:ln/>
        </p:spPr>
      </p:sp>
      <p:sp>
        <p:nvSpPr>
          <p:cNvPr id="12" name="Text 9"/>
          <p:cNvSpPr/>
          <p:nvPr/>
        </p:nvSpPr>
        <p:spPr>
          <a:xfrm>
            <a:off x="-19050" y="3614738"/>
            <a:ext cx="3924300" cy="233362"/>
          </a:xfrm>
          <a:prstGeom prst="rect">
            <a:avLst/>
          </a:prstGeom>
          <a:solidFill>
            <a:srgbClr val="F4BA46"/>
          </a:solidFill>
          <a:ln/>
        </p:spPr>
        <p:txBody>
          <a:bodyPr wrap="square" rtlCol="0" anchor="ctr"/>
          <a:lstStyle/>
          <a:p>
            <a:pPr indent="0" marL="0">
              <a:buNone/>
            </a:pPr>
            <a:endParaRPr lang="en-US" dirty="0"/>
          </a:p>
        </p:txBody>
      </p:sp>
      <p:sp>
        <p:nvSpPr>
          <p:cNvPr id="13" name="Text 10"/>
          <p:cNvSpPr/>
          <p:nvPr/>
        </p:nvSpPr>
        <p:spPr>
          <a:xfrm>
            <a:off x="-19050" y="3848100"/>
            <a:ext cx="3924300" cy="233362"/>
          </a:xfrm>
          <a:prstGeom prst="rect">
            <a:avLst/>
          </a:prstGeom>
          <a:solidFill>
            <a:srgbClr val="BC2062"/>
          </a:solidFill>
          <a:ln/>
        </p:spPr>
        <p:txBody>
          <a:bodyPr wrap="square" rtlCol="0" anchor="ctr"/>
          <a:lstStyle/>
          <a:p>
            <a:pPr indent="0" marL="0">
              <a:buNone/>
            </a:pPr>
            <a:endParaRPr lang="en-US" dirty="0"/>
          </a:p>
        </p:txBody>
      </p:sp>
      <p:sp>
        <p:nvSpPr>
          <p:cNvPr id="14" name="Text 11"/>
          <p:cNvSpPr/>
          <p:nvPr/>
        </p:nvSpPr>
        <p:spPr>
          <a:xfrm>
            <a:off x="-19050" y="4081463"/>
            <a:ext cx="3924300" cy="233362"/>
          </a:xfrm>
          <a:prstGeom prst="rect">
            <a:avLst/>
          </a:prstGeom>
          <a:solidFill>
            <a:srgbClr val="4034B0"/>
          </a:solidFill>
          <a:ln/>
        </p:spPr>
        <p:txBody>
          <a:bodyPr wrap="square" rtlCol="0" anchor="ctr"/>
          <a:lstStyle/>
          <a:p>
            <a:pPr indent="0" marL="0">
              <a:buNone/>
            </a:pPr>
            <a:endParaRPr lang="en-US" dirty="0"/>
          </a:p>
        </p:txBody>
      </p:sp>
      <p:sp>
        <p:nvSpPr>
          <p:cNvPr id="15" name="Text 12"/>
          <p:cNvSpPr/>
          <p:nvPr/>
        </p:nvSpPr>
        <p:spPr>
          <a:xfrm>
            <a:off x="0" y="4757738"/>
            <a:ext cx="5319713" cy="119063"/>
          </a:xfrm>
          <a:prstGeom prst="rect">
            <a:avLst/>
          </a:prstGeom>
          <a:solidFill>
            <a:srgbClr val="F4BA46"/>
          </a:solidFill>
          <a:ln/>
        </p:spPr>
        <p:txBody>
          <a:bodyPr wrap="square" rtlCol="0" anchor="ctr"/>
          <a:lstStyle/>
          <a:p>
            <a:pPr indent="0" marL="0">
              <a:buNone/>
            </a:pPr>
            <a:endParaRPr lang="en-US" dirty="0"/>
          </a:p>
        </p:txBody>
      </p:sp>
      <p:sp>
        <p:nvSpPr>
          <p:cNvPr id="16" name="Text 13"/>
          <p:cNvSpPr/>
          <p:nvPr/>
        </p:nvSpPr>
        <p:spPr>
          <a:xfrm>
            <a:off x="0" y="4876800"/>
            <a:ext cx="5319713" cy="138113"/>
          </a:xfrm>
          <a:prstGeom prst="rect">
            <a:avLst/>
          </a:prstGeom>
          <a:solidFill>
            <a:srgbClr val="BC2062"/>
          </a:solidFill>
          <a:ln/>
        </p:spPr>
        <p:txBody>
          <a:bodyPr wrap="square" rtlCol="0" anchor="ctr"/>
          <a:lstStyle/>
          <a:p>
            <a:pPr indent="0" marL="0">
              <a:buNone/>
            </a:pPr>
            <a:endParaRPr lang="en-US" dirty="0"/>
          </a:p>
        </p:txBody>
      </p:sp>
      <p:sp>
        <p:nvSpPr>
          <p:cNvPr id="17" name="Text 14"/>
          <p:cNvSpPr/>
          <p:nvPr/>
        </p:nvSpPr>
        <p:spPr>
          <a:xfrm>
            <a:off x="0" y="5014913"/>
            <a:ext cx="5319713" cy="128588"/>
          </a:xfrm>
          <a:prstGeom prst="rect">
            <a:avLst/>
          </a:prstGeom>
          <a:solidFill>
            <a:srgbClr val="4034B0"/>
          </a:solidFill>
          <a:ln/>
        </p:spPr>
        <p:txBody>
          <a:bodyPr wrap="square" rtlCol="0" anchor="ct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C2062"/>
        </a:solidFill>
      </p:bgPr>
    </p:bg>
    <p:spTree>
      <p:nvGrpSpPr>
        <p:cNvPr id="1" name=""/>
        <p:cNvGrpSpPr/>
        <p:nvPr/>
      </p:nvGrpSpPr>
      <p:grpSpPr>
        <a:xfrm>
          <a:off x="0" y="0"/>
          <a:ext cx="0" cy="0"/>
          <a:chOff x="0" y="0"/>
          <a:chExt cx="0" cy="0"/>
        </a:xfrm>
      </p:grpSpPr>
      <p:sp>
        <p:nvSpPr>
          <p:cNvPr id="2" name="Text 0"/>
          <p:cNvSpPr/>
          <p:nvPr/>
        </p:nvSpPr>
        <p:spPr>
          <a:xfrm>
            <a:off x="600075" y="966788"/>
            <a:ext cx="7943850" cy="3205163"/>
          </a:xfrm>
          <a:prstGeom prst="rect">
            <a:avLst/>
          </a:prstGeom>
          <a:solidFill>
            <a:srgbClr val="FFD054"/>
          </a:solidFill>
          <a:ln w="18097">
            <a:solidFill>
              <a:srgbClr val="EAB855"/>
            </a:solidFill>
            <a:prstDash val="lgDash"/>
          </a:ln>
        </p:spPr>
        <p:txBody>
          <a:bodyPr wrap="square" rtlCol="0" anchor="ctr"/>
          <a:lstStyle/>
          <a:p>
            <a:pPr indent="0" marL="0">
              <a:buNone/>
            </a:pPr>
            <a:r>
              <a:rPr lang="en-US" dirty="0">
                <a:solidFill>
                  <a:srgbClr val="000000"/>
                </a:solidFill>
              </a:rPr>
              <a:t>“The Sisters of Mercy have been helping those in need around the world for 200 years. However with technology growing they have struggled to keep up with younger audiences. I believe by updating their website, creating more engaging social media content, and researching younger audiences they can grow their volunteer base. Consider looking into their social media, volunteer events, or donating to help strengthen their cause.”</a:t>
            </a:r>
            <a:endParaRPr lang="en-US" dirty="0"/>
          </a:p>
        </p:txBody>
      </p:sp>
      <p:sp>
        <p:nvSpPr>
          <p:cNvPr id="3" name="Text 1"/>
          <p:cNvSpPr/>
          <p:nvPr/>
        </p:nvSpPr>
        <p:spPr>
          <a:xfrm>
            <a:off x="600075" y="438150"/>
            <a:ext cx="1885950" cy="352425"/>
          </a:xfrm>
          <a:prstGeom prst="rect">
            <a:avLst/>
          </a:prstGeom>
          <a:noFill/>
          <a:ln/>
        </p:spPr>
        <p:txBody>
          <a:bodyPr wrap="square" lIns="0" tIns="0" rIns="0" bIns="0" rtlCol="0" anchor="ctr"/>
          <a:lstStyle/>
          <a:p>
            <a:pPr algn="l" indent="0" marL="0">
              <a:lnSpc>
                <a:spcPts val="2633"/>
              </a:lnSpc>
              <a:buNone/>
            </a:pPr>
            <a:r>
              <a:rPr lang="en-US" sz="2351" spc="-47" kern="0" dirty="0">
                <a:solidFill>
                  <a:srgbClr val="FFFFFF">
                    <a:alpha val="99000"/>
                  </a:srgbClr>
                </a:solidFill>
                <a:latin typeface="Georgia" pitchFamily="34" charset="0"/>
                <a:ea typeface="Georgia" pitchFamily="34" charset="-122"/>
                <a:cs typeface="Georgia" pitchFamily="34" charset="-120"/>
              </a:rPr>
              <a:t>Elevator Pitch</a:t>
            </a:r>
            <a:endParaRPr lang="en-US" sz="235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9088" y="1057275"/>
            <a:ext cx="4881563" cy="3024188"/>
          </a:xfrm>
          <a:prstGeom prst="rect">
            <a:avLst/>
          </a:prstGeom>
          <a:noFill/>
          <a:ln/>
        </p:spPr>
        <p:txBody>
          <a:bodyPr wrap="square" lIns="0" tIns="0" rIns="0" bIns="0" rtlCol="0" anchor="ctr"/>
          <a:lstStyle/>
          <a:p>
            <a:pPr algn="l" indent="0" marL="0">
              <a:lnSpc>
                <a:spcPts val="4515"/>
              </a:lnSpc>
              <a:buNone/>
            </a:pPr>
            <a:r>
              <a:rPr lang="en-US" sz="2672" spc="-80" kern="0" dirty="0">
                <a:solidFill>
                  <a:srgbClr val="111111">
                    <a:alpha val="99000"/>
                  </a:srgbClr>
                </a:solidFill>
                <a:latin typeface="Georgia" pitchFamily="34" charset="0"/>
                <a:ea typeface="Georgia" pitchFamily="34" charset="-122"/>
                <a:cs typeface="Georgia" pitchFamily="34" charset="-120"/>
              </a:rPr>
              <a:t>The purpose of this research report is to present findings from my study and discuss future changes for the </a:t>
            </a:r>
            <a:pPr algn="l" indent="0" marL="0">
              <a:lnSpc>
                <a:spcPts val="4515"/>
              </a:lnSpc>
              <a:buNone/>
            </a:pPr>
            <a:r>
              <a:rPr lang="en-US" sz="2672" b="1" spc="-80" kern="0" dirty="0">
                <a:solidFill>
                  <a:srgbClr val="903568">
                    <a:alpha val="99000"/>
                  </a:srgbClr>
                </a:solidFill>
                <a:latin typeface="Georgia" pitchFamily="34" charset="0"/>
                <a:ea typeface="Georgia" pitchFamily="34" charset="-122"/>
                <a:cs typeface="Georgia" pitchFamily="34" charset="-120"/>
              </a:rPr>
              <a:t>Sisters</a:t>
            </a:r>
            <a:pPr algn="l" indent="0" marL="0">
              <a:lnSpc>
                <a:spcPts val="4515"/>
              </a:lnSpc>
              <a:buNone/>
            </a:pPr>
            <a:r>
              <a:rPr lang="en-US" sz="2672" b="1" spc="-80" kern="0" dirty="0">
                <a:solidFill>
                  <a:srgbClr val="732142">
                    <a:alpha val="99000"/>
                  </a:srgbClr>
                </a:solidFill>
                <a:latin typeface="Georgia" pitchFamily="34" charset="0"/>
                <a:ea typeface="Georgia" pitchFamily="34" charset="-122"/>
                <a:cs typeface="Georgia" pitchFamily="34" charset="-120"/>
              </a:rPr>
              <a:t> of Mercy</a:t>
            </a:r>
            <a:pPr algn="l" indent="0" marL="0">
              <a:lnSpc>
                <a:spcPts val="4515"/>
              </a:lnSpc>
              <a:buNone/>
            </a:pPr>
            <a:r>
              <a:rPr lang="en-US" sz="2672" spc="-80" kern="0" dirty="0">
                <a:solidFill>
                  <a:srgbClr val="111111">
                    <a:alpha val="99000"/>
                  </a:srgbClr>
                </a:solidFill>
                <a:latin typeface="Georgia" pitchFamily="34" charset="0"/>
                <a:ea typeface="Georgia" pitchFamily="34" charset="-122"/>
                <a:cs typeface="Georgia" pitchFamily="34" charset="-120"/>
              </a:rPr>
              <a:t> future UX strategy.</a:t>
            </a:r>
            <a:endParaRPr lang="en-US" sz="2672" dirty="0"/>
          </a:p>
        </p:txBody>
      </p:sp>
      <p:pic>
        <p:nvPicPr>
          <p:cNvPr id="3" name="Image 0" descr="preencoded.png">    </p:cNvPr>
          <p:cNvPicPr>
            <a:picLocks noChangeAspect="1"/>
          </p:cNvPicPr>
          <p:nvPr/>
        </p:nvPicPr>
        <p:blipFill>
          <a:blip r:embed="rId1"/>
          <a:srcRect l="0" r="0" t="0" b="0"/>
          <a:stretch/>
        </p:blipFill>
        <p:spPr>
          <a:xfrm>
            <a:off x="6796088" y="4252913"/>
            <a:ext cx="2247900" cy="890588"/>
          </a:xfrm>
          <a:prstGeom prst="rect">
            <a:avLst/>
          </a:prstGeom>
        </p:spPr>
      </p:pic>
      <p:pic>
        <p:nvPicPr>
          <p:cNvPr id="4" name="Image 1" descr="preencoded.png">    </p:cNvPr>
          <p:cNvPicPr>
            <a:picLocks noChangeAspect="1"/>
          </p:cNvPicPr>
          <p:nvPr/>
        </p:nvPicPr>
        <p:blipFill>
          <a:blip r:embed="rId2"/>
          <a:srcRect l="0" r="0" t="0" b="0"/>
          <a:stretch/>
        </p:blipFill>
        <p:spPr>
          <a:xfrm>
            <a:off x="5300663" y="414338"/>
            <a:ext cx="3538538" cy="3538538"/>
          </a:xfrm>
          <a:prstGeom prst="rect">
            <a:avLst/>
          </a:prstGeom>
        </p:spPr>
      </p:pic>
      <p:sp>
        <p:nvSpPr>
          <p:cNvPr id="5" name="Text 1"/>
          <p:cNvSpPr/>
          <p:nvPr/>
        </p:nvSpPr>
        <p:spPr>
          <a:xfrm>
            <a:off x="419100" y="414338"/>
            <a:ext cx="1409700" cy="433388"/>
          </a:xfrm>
          <a:prstGeom prst="rect">
            <a:avLst/>
          </a:prstGeom>
          <a:noFill/>
          <a:ln/>
        </p:spPr>
        <p:txBody>
          <a:bodyPr wrap="square" lIns="0" tIns="0" rIns="0" bIns="0" rtlCol="0" anchor="ctr"/>
          <a:lstStyle/>
          <a:p>
            <a:pPr algn="l" indent="0" marL="0">
              <a:lnSpc>
                <a:spcPts val="3242"/>
              </a:lnSpc>
              <a:buNone/>
            </a:pPr>
            <a:r>
              <a:rPr lang="en-US" sz="2494" b="1" spc="-25" kern="0" dirty="0">
                <a:solidFill>
                  <a:srgbClr val="000000">
                    <a:alpha val="99000"/>
                  </a:srgbClr>
                </a:solidFill>
                <a:latin typeface="Georgia" pitchFamily="34" charset="0"/>
                <a:ea typeface="Georgia" pitchFamily="34" charset="-122"/>
                <a:cs typeface="Georgia" pitchFamily="34" charset="-120"/>
              </a:rPr>
              <a:t>Purpose</a:t>
            </a:r>
            <a:endParaRPr lang="en-US" sz="249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D054"/>
        </a:solidFill>
      </p:bgPr>
    </p:bg>
    <p:spTree>
      <p:nvGrpSpPr>
        <p:cNvPr id="1" name=""/>
        <p:cNvGrpSpPr/>
        <p:nvPr/>
      </p:nvGrpSpPr>
      <p:grpSpPr>
        <a:xfrm>
          <a:off x="0" y="0"/>
          <a:ext cx="0" cy="0"/>
          <a:chOff x="0" y="0"/>
          <a:chExt cx="0" cy="0"/>
        </a:xfrm>
      </p:grpSpPr>
      <p:sp>
        <p:nvSpPr>
          <p:cNvPr id="2" name="Shape 0"/>
          <p:cNvSpPr/>
          <p:nvPr/>
        </p:nvSpPr>
        <p:spPr>
          <a:xfrm>
            <a:off x="5195888" y="881063"/>
            <a:ext cx="3357563" cy="3924300"/>
          </a:xfrm>
          <a:prstGeom prst="rect">
            <a:avLst/>
          </a:prstGeom>
          <a:noFill/>
          <a:ln/>
        </p:spPr>
      </p:sp>
      <p:sp>
        <p:nvSpPr>
          <p:cNvPr id="3" name="Shape 1"/>
          <p:cNvSpPr/>
          <p:nvPr/>
        </p:nvSpPr>
        <p:spPr>
          <a:xfrm>
            <a:off x="5195888" y="881063"/>
            <a:ext cx="3357563" cy="200025"/>
          </a:xfrm>
          <a:prstGeom prst="rect">
            <a:avLst/>
          </a:prstGeom>
          <a:noFill/>
          <a:ln/>
        </p:spPr>
      </p:sp>
      <p:sp>
        <p:nvSpPr>
          <p:cNvPr id="4" name="Text 2"/>
          <p:cNvSpPr/>
          <p:nvPr/>
        </p:nvSpPr>
        <p:spPr>
          <a:xfrm>
            <a:off x="5195888" y="881063"/>
            <a:ext cx="1666875"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Executive Summary</a:t>
            </a:r>
            <a:endParaRPr lang="en-US" sz="1140" dirty="0"/>
          </a:p>
        </p:txBody>
      </p:sp>
      <p:sp>
        <p:nvSpPr>
          <p:cNvPr id="5" name="Shape 3"/>
          <p:cNvSpPr/>
          <p:nvPr/>
        </p:nvSpPr>
        <p:spPr>
          <a:xfrm>
            <a:off x="5195888" y="1438275"/>
            <a:ext cx="3357563" cy="9525"/>
          </a:xfrm>
          <a:prstGeom prst="rect">
            <a:avLst/>
          </a:prstGeom>
          <a:solidFill>
            <a:srgbClr val="000000">
              <a:alpha val="30000"/>
            </a:srgbClr>
          </a:solidFill>
          <a:ln/>
        </p:spPr>
      </p:sp>
      <p:sp>
        <p:nvSpPr>
          <p:cNvPr id="6" name="Shape 4"/>
          <p:cNvSpPr/>
          <p:nvPr/>
        </p:nvSpPr>
        <p:spPr>
          <a:xfrm>
            <a:off x="5195888" y="1804988"/>
            <a:ext cx="3357563" cy="200025"/>
          </a:xfrm>
          <a:prstGeom prst="rect">
            <a:avLst/>
          </a:prstGeom>
          <a:noFill/>
          <a:ln/>
        </p:spPr>
      </p:sp>
      <p:sp>
        <p:nvSpPr>
          <p:cNvPr id="7" name="Text 5"/>
          <p:cNvSpPr/>
          <p:nvPr/>
        </p:nvSpPr>
        <p:spPr>
          <a:xfrm>
            <a:off x="5195888" y="1804988"/>
            <a:ext cx="3028950"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Backgrounds &amp; Overview</a:t>
            </a:r>
            <a:endParaRPr lang="en-US" sz="1140" dirty="0"/>
          </a:p>
        </p:txBody>
      </p:sp>
      <p:sp>
        <p:nvSpPr>
          <p:cNvPr id="8" name="Shape 6"/>
          <p:cNvSpPr/>
          <p:nvPr/>
        </p:nvSpPr>
        <p:spPr>
          <a:xfrm>
            <a:off x="5195888" y="2362200"/>
            <a:ext cx="3357563" cy="9525"/>
          </a:xfrm>
          <a:prstGeom prst="rect">
            <a:avLst/>
          </a:prstGeom>
          <a:solidFill>
            <a:srgbClr val="000000">
              <a:alpha val="30000"/>
            </a:srgbClr>
          </a:solidFill>
          <a:ln/>
        </p:spPr>
      </p:sp>
      <p:sp>
        <p:nvSpPr>
          <p:cNvPr id="9" name="Shape 7"/>
          <p:cNvSpPr/>
          <p:nvPr/>
        </p:nvSpPr>
        <p:spPr>
          <a:xfrm>
            <a:off x="5195888" y="2728913"/>
            <a:ext cx="3357563" cy="200025"/>
          </a:xfrm>
          <a:prstGeom prst="rect">
            <a:avLst/>
          </a:prstGeom>
          <a:noFill/>
          <a:ln/>
        </p:spPr>
      </p:sp>
      <p:sp>
        <p:nvSpPr>
          <p:cNvPr id="10" name="Text 8"/>
          <p:cNvSpPr/>
          <p:nvPr/>
        </p:nvSpPr>
        <p:spPr>
          <a:xfrm>
            <a:off x="5195888" y="2728913"/>
            <a:ext cx="1666875"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Methodology</a:t>
            </a:r>
            <a:endParaRPr lang="en-US" sz="1140" dirty="0"/>
          </a:p>
        </p:txBody>
      </p:sp>
      <p:sp>
        <p:nvSpPr>
          <p:cNvPr id="11" name="Shape 9"/>
          <p:cNvSpPr/>
          <p:nvPr/>
        </p:nvSpPr>
        <p:spPr>
          <a:xfrm>
            <a:off x="5195888" y="3286125"/>
            <a:ext cx="3357563" cy="9525"/>
          </a:xfrm>
          <a:prstGeom prst="rect">
            <a:avLst/>
          </a:prstGeom>
          <a:solidFill>
            <a:srgbClr val="000000">
              <a:alpha val="30000"/>
            </a:srgbClr>
          </a:solidFill>
          <a:ln/>
        </p:spPr>
      </p:sp>
      <p:sp>
        <p:nvSpPr>
          <p:cNvPr id="12" name="Shape 10"/>
          <p:cNvSpPr/>
          <p:nvPr/>
        </p:nvSpPr>
        <p:spPr>
          <a:xfrm>
            <a:off x="5195888" y="3652838"/>
            <a:ext cx="3357563" cy="200025"/>
          </a:xfrm>
          <a:prstGeom prst="rect">
            <a:avLst/>
          </a:prstGeom>
          <a:noFill/>
          <a:ln/>
        </p:spPr>
      </p:sp>
      <p:sp>
        <p:nvSpPr>
          <p:cNvPr id="13" name="Text 11"/>
          <p:cNvSpPr/>
          <p:nvPr/>
        </p:nvSpPr>
        <p:spPr>
          <a:xfrm>
            <a:off x="5195888" y="3652838"/>
            <a:ext cx="1666875"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Key Findings</a:t>
            </a:r>
            <a:endParaRPr lang="en-US" sz="1140" dirty="0"/>
          </a:p>
        </p:txBody>
      </p:sp>
      <p:sp>
        <p:nvSpPr>
          <p:cNvPr id="14" name="Shape 12"/>
          <p:cNvSpPr/>
          <p:nvPr/>
        </p:nvSpPr>
        <p:spPr>
          <a:xfrm>
            <a:off x="5195888" y="4210050"/>
            <a:ext cx="3357563" cy="9525"/>
          </a:xfrm>
          <a:prstGeom prst="rect">
            <a:avLst/>
          </a:prstGeom>
          <a:solidFill>
            <a:srgbClr val="000000">
              <a:alpha val="30000"/>
            </a:srgbClr>
          </a:solidFill>
          <a:ln/>
        </p:spPr>
      </p:sp>
      <p:sp>
        <p:nvSpPr>
          <p:cNvPr id="15" name="Shape 13"/>
          <p:cNvSpPr/>
          <p:nvPr/>
        </p:nvSpPr>
        <p:spPr>
          <a:xfrm>
            <a:off x="5195888" y="4576763"/>
            <a:ext cx="3357563" cy="200025"/>
          </a:xfrm>
          <a:prstGeom prst="rect">
            <a:avLst/>
          </a:prstGeom>
          <a:noFill/>
          <a:ln/>
        </p:spPr>
      </p:sp>
      <p:sp>
        <p:nvSpPr>
          <p:cNvPr id="16" name="Text 14"/>
          <p:cNvSpPr/>
          <p:nvPr/>
        </p:nvSpPr>
        <p:spPr>
          <a:xfrm>
            <a:off x="5195888" y="4576763"/>
            <a:ext cx="3490913"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Opportunities &amp; Recommendations</a:t>
            </a:r>
            <a:endParaRPr lang="en-US" sz="1140" dirty="0"/>
          </a:p>
        </p:txBody>
      </p:sp>
      <p:sp>
        <p:nvSpPr>
          <p:cNvPr id="17" name="Text 15"/>
          <p:cNvSpPr/>
          <p:nvPr/>
        </p:nvSpPr>
        <p:spPr>
          <a:xfrm>
            <a:off x="800100" y="2052637"/>
            <a:ext cx="3309938" cy="733425"/>
          </a:xfrm>
          <a:prstGeom prst="rect">
            <a:avLst/>
          </a:prstGeom>
          <a:noFill/>
          <a:ln/>
        </p:spPr>
        <p:txBody>
          <a:bodyPr wrap="square" lIns="0" tIns="0" rIns="0" bIns="0" rtlCol="0" anchor="ctr"/>
          <a:lstStyle/>
          <a:p>
            <a:pPr algn="l" indent="0" marL="0">
              <a:lnSpc>
                <a:spcPts val="5472"/>
              </a:lnSpc>
              <a:buNone/>
            </a:pPr>
            <a:r>
              <a:rPr lang="en-US" sz="4560" b="1" spc="-137" kern="0" dirty="0">
                <a:solidFill>
                  <a:srgbClr val="4034B0">
                    <a:alpha val="99000"/>
                  </a:srgbClr>
                </a:solidFill>
                <a:latin typeface="Source Serif Pro" pitchFamily="34" charset="0"/>
                <a:ea typeface="Source Serif Pro" pitchFamily="34" charset="-122"/>
                <a:cs typeface="Source Serif Pro" pitchFamily="34" charset="-120"/>
              </a:rPr>
              <a:t>Agenda</a:t>
            </a:r>
            <a:endParaRPr lang="en-US" sz="4560" dirty="0"/>
          </a:p>
        </p:txBody>
      </p:sp>
      <p:sp>
        <p:nvSpPr>
          <p:cNvPr id="18" name="Text 16"/>
          <p:cNvSpPr/>
          <p:nvPr/>
        </p:nvSpPr>
        <p:spPr>
          <a:xfrm>
            <a:off x="5195888" y="180975"/>
            <a:ext cx="914400" cy="200025"/>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BC2062">
                    <a:alpha val="99000"/>
                  </a:srgbClr>
                </a:solidFill>
                <a:latin typeface=".SF Georgian Rounded" pitchFamily="34" charset="0"/>
                <a:ea typeface=".SF Georgian Rounded" pitchFamily="34" charset="-122"/>
                <a:cs typeface=".SF Georgian Rounded" pitchFamily="34" charset="-120"/>
              </a:rPr>
              <a:t>Purpose</a:t>
            </a:r>
            <a:endParaRPr lang="en-US" sz="1140" dirty="0"/>
          </a:p>
        </p:txBody>
      </p:sp>
      <p:sp>
        <p:nvSpPr>
          <p:cNvPr id="19" name="Shape 17"/>
          <p:cNvSpPr/>
          <p:nvPr/>
        </p:nvSpPr>
        <p:spPr>
          <a:xfrm rot="0">
            <a:off x="5167313" y="533400"/>
            <a:ext cx="3176591" cy="0"/>
          </a:xfrm>
          <a:prstGeom prst="line">
            <a:avLst/>
          </a:prstGeom>
          <a:noFill/>
          <a:ln w="4524">
            <a:solidFill>
              <a:srgbClr val="453D3D"/>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034B0"/>
        </a:solidFill>
      </p:bgPr>
    </p:bg>
    <p:spTree>
      <p:nvGrpSpPr>
        <p:cNvPr id="1" name=""/>
        <p:cNvGrpSpPr/>
        <p:nvPr/>
      </p:nvGrpSpPr>
      <p:grpSpPr>
        <a:xfrm>
          <a:off x="0" y="0"/>
          <a:ext cx="0" cy="0"/>
          <a:chOff x="0" y="0"/>
          <a:chExt cx="0" cy="0"/>
        </a:xfrm>
      </p:grpSpPr>
      <p:sp>
        <p:nvSpPr>
          <p:cNvPr id="2" name="Shape 0"/>
          <p:cNvSpPr/>
          <p:nvPr/>
        </p:nvSpPr>
        <p:spPr>
          <a:xfrm>
            <a:off x="5581650" y="1828800"/>
            <a:ext cx="4557713" cy="1485900"/>
          </a:xfrm>
          <a:prstGeom prst="rect">
            <a:avLst/>
          </a:prstGeom>
          <a:noFill/>
          <a:ln/>
        </p:spPr>
      </p:sp>
      <p:sp>
        <p:nvSpPr>
          <p:cNvPr id="3" name="Text 1"/>
          <p:cNvSpPr/>
          <p:nvPr/>
        </p:nvSpPr>
        <p:spPr>
          <a:xfrm>
            <a:off x="5581650" y="1828800"/>
            <a:ext cx="4557713" cy="1095375"/>
          </a:xfrm>
          <a:prstGeom prst="rect">
            <a:avLst/>
          </a:prstGeom>
          <a:noFill/>
          <a:ln/>
        </p:spPr>
        <p:txBody>
          <a:bodyPr wrap="square" lIns="0" tIns="0" rIns="0" bIns="0" rtlCol="0" anchor="ctr"/>
          <a:lstStyle/>
          <a:p>
            <a:pPr algn="l" indent="0" marL="0">
              <a:lnSpc>
                <a:spcPts val="4104"/>
              </a:lnSpc>
              <a:buNone/>
            </a:pPr>
            <a:r>
              <a:rPr lang="en-US" sz="3420" b="1" spc="-103" kern="0" dirty="0">
                <a:solidFill>
                  <a:srgbClr val="FFFFFF">
                    <a:alpha val="99000"/>
                  </a:srgbClr>
                </a:solidFill>
                <a:latin typeface="Georgia" pitchFamily="34" charset="0"/>
                <a:ea typeface="Georgia" pitchFamily="34" charset="-122"/>
                <a:cs typeface="Georgia" pitchFamily="34" charset="-120"/>
              </a:rPr>
              <a:t>Background  &amp; Overview</a:t>
            </a:r>
            <a:endParaRPr lang="en-US" sz="3420" dirty="0"/>
          </a:p>
        </p:txBody>
      </p:sp>
      <p:sp>
        <p:nvSpPr>
          <p:cNvPr id="4" name="Text 2"/>
          <p:cNvSpPr/>
          <p:nvPr/>
        </p:nvSpPr>
        <p:spPr>
          <a:xfrm>
            <a:off x="5581650" y="3114675"/>
            <a:ext cx="4557713"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About The Sisters of Mercy,</a:t>
            </a:r>
            <a:endParaRPr lang="en-US" sz="1140" dirty="0"/>
          </a:p>
        </p:txBody>
      </p:sp>
      <p:sp>
        <p:nvSpPr>
          <p:cNvPr id="5" name="Shape 3"/>
          <p:cNvSpPr/>
          <p:nvPr/>
        </p:nvSpPr>
        <p:spPr>
          <a:xfrm>
            <a:off x="381000" y="609600"/>
            <a:ext cx="581025" cy="238125"/>
          </a:xfrm>
          <a:prstGeom prst="roundRect">
            <a:avLst>
              <a:gd name="adj" fmla="val 476160"/>
            </a:avLst>
          </a:prstGeom>
          <a:solidFill>
            <a:srgbClr val="FFFFFF"/>
          </a:solidFill>
          <a:ln/>
        </p:spPr>
      </p:sp>
      <p:sp>
        <p:nvSpPr>
          <p:cNvPr id="6" name="Text 4"/>
          <p:cNvSpPr/>
          <p:nvPr/>
        </p:nvSpPr>
        <p:spPr>
          <a:xfrm>
            <a:off x="495300" y="666750"/>
            <a:ext cx="352425" cy="133350"/>
          </a:xfrm>
          <a:prstGeom prst="rect">
            <a:avLst/>
          </a:prstGeom>
          <a:noFill/>
          <a:ln/>
        </p:spPr>
        <p:txBody>
          <a:bodyPr wrap="square" lIns="0" tIns="0" rIns="0" bIns="0" rtlCol="0" anchor="ctr"/>
          <a:lstStyle/>
          <a:p>
            <a:pPr algn="l" indent="0" marL="0">
              <a:lnSpc>
                <a:spcPts val="1002"/>
              </a:lnSpc>
              <a:buNone/>
            </a:pPr>
            <a:r>
              <a:rPr lang="en-US" sz="855" b="1" spc="34" kern="0" dirty="0">
                <a:solidFill>
                  <a:srgbClr val="111111">
                    <a:alpha val="99000"/>
                  </a:srgbClr>
                </a:solidFill>
                <a:latin typeface="Roboto" pitchFamily="34" charset="0"/>
                <a:ea typeface="Roboto" pitchFamily="34" charset="-122"/>
                <a:cs typeface="Roboto" pitchFamily="34" charset="-120"/>
              </a:rPr>
              <a:t>TOPIC</a:t>
            </a:r>
            <a:endParaRPr lang="en-US" sz="855" dirty="0"/>
          </a:p>
        </p:txBody>
      </p:sp>
      <p:sp>
        <p:nvSpPr>
          <p:cNvPr id="7" name="Shape 5"/>
          <p:cNvSpPr/>
          <p:nvPr/>
        </p:nvSpPr>
        <p:spPr>
          <a:xfrm>
            <a:off x="1057275" y="609600"/>
            <a:ext cx="1162050" cy="238125"/>
          </a:xfrm>
          <a:prstGeom prst="roundRect">
            <a:avLst>
              <a:gd name="adj" fmla="val 476160"/>
            </a:avLst>
          </a:prstGeom>
          <a:solidFill>
            <a:srgbClr val="FFFFFF"/>
          </a:solidFill>
          <a:ln/>
        </p:spPr>
      </p:sp>
      <p:sp>
        <p:nvSpPr>
          <p:cNvPr id="8" name="Text 6"/>
          <p:cNvSpPr/>
          <p:nvPr/>
        </p:nvSpPr>
        <p:spPr>
          <a:xfrm>
            <a:off x="1171575" y="666750"/>
            <a:ext cx="933450" cy="133350"/>
          </a:xfrm>
          <a:prstGeom prst="rect">
            <a:avLst/>
          </a:prstGeom>
          <a:noFill/>
          <a:ln/>
        </p:spPr>
        <p:txBody>
          <a:bodyPr wrap="square" lIns="0" tIns="0" rIns="0" bIns="0" rtlCol="0" anchor="ctr"/>
          <a:lstStyle/>
          <a:p>
            <a:pPr algn="l" indent="0" marL="0">
              <a:lnSpc>
                <a:spcPts val="1002"/>
              </a:lnSpc>
              <a:buNone/>
            </a:pPr>
            <a:r>
              <a:rPr lang="en-US" sz="855" b="1" spc="34" kern="0" dirty="0">
                <a:solidFill>
                  <a:srgbClr val="111111">
                    <a:alpha val="99000"/>
                  </a:srgbClr>
                </a:solidFill>
                <a:latin typeface="Roboto" pitchFamily="34" charset="0"/>
                <a:ea typeface="Roboto" pitchFamily="34" charset="-122"/>
                <a:cs typeface="Roboto" pitchFamily="34" charset="-120"/>
              </a:rPr>
              <a:t>ANOTHER TOPIC</a:t>
            </a:r>
            <a:endParaRPr lang="en-US" sz="855" dirty="0"/>
          </a:p>
        </p:txBody>
      </p:sp>
      <p:sp>
        <p:nvSpPr>
          <p:cNvPr id="9" name="Text 7"/>
          <p:cNvSpPr/>
          <p:nvPr/>
        </p:nvSpPr>
        <p:spPr>
          <a:xfrm>
            <a:off x="-466725" y="2924175"/>
            <a:ext cx="2876550" cy="2638425"/>
          </a:xfrm>
          <a:prstGeom prst="ellipse">
            <a:avLst/>
          </a:prstGeom>
          <a:solidFill>
            <a:srgbClr val="F4BA46"/>
          </a:solidFill>
          <a:ln/>
        </p:spPr>
        <p:txBody>
          <a:bodyPr wrap="square" rtlCol="0" anchor="ctr"/>
          <a:lstStyle/>
          <a:p>
            <a:pPr indent="0" marL="0">
              <a:buNone/>
            </a:pPr>
            <a:endParaRPr lang="en-US" dirty="0"/>
          </a:p>
        </p:txBody>
      </p:sp>
      <p:sp>
        <p:nvSpPr>
          <p:cNvPr id="10" name="Text 8"/>
          <p:cNvSpPr/>
          <p:nvPr/>
        </p:nvSpPr>
        <p:spPr>
          <a:xfrm>
            <a:off x="-261937" y="3314700"/>
            <a:ext cx="2395538" cy="2247900"/>
          </a:xfrm>
          <a:prstGeom prst="ellipse">
            <a:avLst/>
          </a:prstGeom>
          <a:solidFill>
            <a:srgbClr val="4034B0"/>
          </a:solidFill>
          <a:ln/>
        </p:spPr>
        <p:txBody>
          <a:bodyPr wrap="square" rtlCol="0" anchor="ctr"/>
          <a:lstStyle/>
          <a:p>
            <a:pPr indent="0" marL="0">
              <a:buNone/>
            </a:pPr>
            <a:endParaRPr lang="en-US" dirty="0"/>
          </a:p>
        </p:txBody>
      </p:sp>
      <p:sp>
        <p:nvSpPr>
          <p:cNvPr id="11" name="Text 9"/>
          <p:cNvSpPr/>
          <p:nvPr/>
        </p:nvSpPr>
        <p:spPr>
          <a:xfrm>
            <a:off x="-109537" y="3538538"/>
            <a:ext cx="2066925" cy="1905000"/>
          </a:xfrm>
          <a:prstGeom prst="ellipse">
            <a:avLst/>
          </a:prstGeom>
          <a:solidFill>
            <a:srgbClr val="8B0A4A"/>
          </a:solidFill>
          <a:ln/>
        </p:spPr>
        <p:txBody>
          <a:bodyPr wrap="square" rtlCol="0" anchor="ctr"/>
          <a:lstStyle/>
          <a:p>
            <a:pPr indent="0" marL="0">
              <a:buNone/>
            </a:pPr>
            <a:endParaRPr lang="en-US" dirty="0"/>
          </a:p>
        </p:txBody>
      </p:sp>
      <p:sp>
        <p:nvSpPr>
          <p:cNvPr id="12" name="Text 10"/>
          <p:cNvSpPr/>
          <p:nvPr/>
        </p:nvSpPr>
        <p:spPr>
          <a:xfrm>
            <a:off x="-109537" y="3948112"/>
            <a:ext cx="1557338" cy="1495425"/>
          </a:xfrm>
          <a:prstGeom prst="ellipse">
            <a:avLst/>
          </a:prstGeom>
          <a:solidFill>
            <a:srgbClr val="F4BA46"/>
          </a:solidFill>
          <a:ln/>
        </p:spPr>
        <p:txBody>
          <a:bodyPr wrap="square"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628650" y="800100"/>
            <a:ext cx="7600950" cy="3733800"/>
          </a:xfrm>
          <a:prstGeom prst="rect">
            <a:avLst/>
          </a:prstGeom>
          <a:noFill/>
          <a:ln/>
        </p:spPr>
        <p:txBody>
          <a:bodyPr wrap="square" lIns="0" tIns="0" rIns="0" bIns="0" rtlCol="0" anchor="ctr"/>
          <a:lstStyle/>
          <a:p>
            <a:pPr algn="l" indent="0" marL="0">
              <a:lnSpc>
                <a:spcPts val="2001"/>
              </a:lnSpc>
              <a:buNone/>
            </a:pPr>
            <a:r>
              <a:rPr lang="en-US" sz="1852" spc="-56" kern="0" dirty="0">
                <a:solidFill>
                  <a:srgbClr val="FFFFFF">
                    <a:alpha val="99000"/>
                  </a:srgbClr>
                </a:solidFill>
                <a:latin typeface="Archivo" pitchFamily="34" charset="0"/>
                <a:ea typeface="Archivo" pitchFamily="34" charset="-122"/>
                <a:cs typeface="Archivo" pitchFamily="34" charset="-120"/>
              </a:rPr>
              <a:t>The Sisters of Mercy were founded in 1847 by an Irish woman named Catherine McAuley, who opened a shelter for women. Now they are a religious based organization that provide social services, rehabilitation and support.</a:t>
            </a:r>
            <a:endParaRPr lang="en-US" sz="1852" dirty="0"/>
          </a:p>
          <a:p>
            <a:pPr algn="l" indent="0" marL="0">
              <a:lnSpc>
                <a:spcPts val="2001"/>
              </a:lnSpc>
              <a:buNone/>
            </a:pPr>
            <a:r>
              <a:rPr lang="en-US" sz="1852" spc="-56" kern="0" dirty="0">
                <a:solidFill>
                  <a:srgbClr val="FFFFFF">
                    <a:alpha val="99000"/>
                  </a:srgbClr>
                </a:solidFill>
                <a:latin typeface="Archivo" pitchFamily="34" charset="0"/>
                <a:ea typeface="Archivo" pitchFamily="34" charset="-122"/>
                <a:cs typeface="Archivo" pitchFamily="34" charset="-120"/>
              </a:rPr>
              <a:t>They connect with schools to make Mercy schools, centered in the Sisters of Mercy’s values.</a:t>
            </a:r>
            <a:endParaRPr lang="en-US" sz="1852" dirty="0"/>
          </a:p>
          <a:p>
            <a:pPr algn="l" indent="0" marL="0">
              <a:lnSpc>
                <a:spcPts val="2001"/>
              </a:lnSpc>
              <a:buNone/>
            </a:pPr>
            <a:r>
              <a:rPr lang="en-US" sz="1852" spc="-56" kern="0" dirty="0">
                <a:solidFill>
                  <a:srgbClr val="FFFFFF">
                    <a:alpha val="99000"/>
                  </a:srgbClr>
                </a:solidFill>
                <a:latin typeface="Archivo" pitchFamily="34" charset="0"/>
                <a:ea typeface="Archivo" pitchFamily="34" charset="-122"/>
                <a:cs typeface="Archivo" pitchFamily="34" charset="-120"/>
              </a:rPr>
              <a:t>Their 5 main critical concerns are</a:t>
            </a:r>
            <a:endParaRPr lang="en-US" sz="1852" dirty="0"/>
          </a:p>
          <a:p>
            <a:pPr algn="l" lvl="1" marL="685800" indent="-342900">
              <a:lnSpc>
                <a:spcPts val="2001"/>
              </a:lnSpc>
              <a:buSzPct val="100000"/>
              <a:buChar char="•"/>
            </a:pPr>
            <a:r>
              <a:rPr lang="en-US" sz="1852" spc="-56" kern="0" dirty="0">
                <a:solidFill>
                  <a:srgbClr val="FFFFFF">
                    <a:alpha val="99000"/>
                  </a:srgbClr>
                </a:solidFill>
                <a:latin typeface="Archivo" pitchFamily="34" charset="0"/>
                <a:ea typeface="Archivo" pitchFamily="34" charset="-122"/>
                <a:cs typeface="Archivo" pitchFamily="34" charset="-120"/>
              </a:rPr>
              <a:t>Earth</a:t>
            </a:r>
            <a:endParaRPr lang="en-US" sz="1852" dirty="0"/>
          </a:p>
          <a:p>
            <a:pPr algn="l" lvl="1" marL="685800" indent="-342900">
              <a:lnSpc>
                <a:spcPts val="2001"/>
              </a:lnSpc>
              <a:buSzPct val="100000"/>
              <a:buChar char="•"/>
            </a:pPr>
            <a:r>
              <a:rPr lang="en-US" sz="1852" spc="-56" kern="0" dirty="0">
                <a:solidFill>
                  <a:srgbClr val="FFFFFF">
                    <a:alpha val="99000"/>
                  </a:srgbClr>
                </a:solidFill>
                <a:latin typeface="Archivo" pitchFamily="34" charset="0"/>
                <a:ea typeface="Archivo" pitchFamily="34" charset="-122"/>
                <a:cs typeface="Archivo" pitchFamily="34" charset="-120"/>
              </a:rPr>
              <a:t>Immigration</a:t>
            </a:r>
            <a:endParaRPr lang="en-US" sz="1852" dirty="0"/>
          </a:p>
          <a:p>
            <a:pPr algn="l" lvl="1" marL="685800" indent="-342900">
              <a:lnSpc>
                <a:spcPts val="2001"/>
              </a:lnSpc>
              <a:buSzPct val="100000"/>
              <a:buChar char="•"/>
            </a:pPr>
            <a:r>
              <a:rPr lang="en-US" sz="1852" spc="-56" kern="0" dirty="0">
                <a:solidFill>
                  <a:srgbClr val="FFFFFF">
                    <a:alpha val="99000"/>
                  </a:srgbClr>
                </a:solidFill>
                <a:latin typeface="Archivo" pitchFamily="34" charset="0"/>
                <a:ea typeface="Archivo" pitchFamily="34" charset="-122"/>
                <a:cs typeface="Archivo" pitchFamily="34" charset="-120"/>
              </a:rPr>
              <a:t>Nonviolence</a:t>
            </a:r>
            <a:endParaRPr lang="en-US" sz="1852" dirty="0"/>
          </a:p>
          <a:p>
            <a:pPr algn="l" lvl="1" marL="685800" indent="-342900">
              <a:lnSpc>
                <a:spcPts val="2001"/>
              </a:lnSpc>
              <a:buSzPct val="100000"/>
              <a:buChar char="•"/>
            </a:pPr>
            <a:r>
              <a:rPr lang="en-US" sz="1852" spc="-56" kern="0" dirty="0">
                <a:solidFill>
                  <a:srgbClr val="FFFFFF">
                    <a:alpha val="99000"/>
                  </a:srgbClr>
                </a:solidFill>
                <a:latin typeface="Archivo" pitchFamily="34" charset="0"/>
                <a:ea typeface="Archivo" pitchFamily="34" charset="-122"/>
                <a:cs typeface="Archivo" pitchFamily="34" charset="-120"/>
              </a:rPr>
              <a:t>Racism</a:t>
            </a:r>
            <a:endParaRPr lang="en-US" sz="1852" dirty="0"/>
          </a:p>
          <a:p>
            <a:pPr algn="l" lvl="1" marL="685800" indent="-342900">
              <a:lnSpc>
                <a:spcPts val="2001"/>
              </a:lnSpc>
              <a:buSzPct val="100000"/>
              <a:buChar char="•"/>
            </a:pPr>
            <a:r>
              <a:rPr lang="en-US" sz="1852" spc="-56" kern="0" dirty="0">
                <a:solidFill>
                  <a:srgbClr val="FFFFFF">
                    <a:alpha val="99000"/>
                  </a:srgbClr>
                </a:solidFill>
                <a:latin typeface="Archivo" pitchFamily="34" charset="0"/>
                <a:ea typeface="Archivo" pitchFamily="34" charset="-122"/>
                <a:cs typeface="Archivo" pitchFamily="34" charset="-120"/>
              </a:rPr>
              <a:t>Women</a:t>
            </a:r>
            <a:endParaRPr lang="en-US" sz="1852" dirty="0"/>
          </a:p>
        </p:txBody>
      </p:sp>
      <p:sp>
        <p:nvSpPr>
          <p:cNvPr id="3" name="Text 1"/>
          <p:cNvSpPr/>
          <p:nvPr/>
        </p:nvSpPr>
        <p:spPr>
          <a:xfrm>
            <a:off x="476250" y="700088"/>
            <a:ext cx="7886700" cy="4019550"/>
          </a:xfrm>
          <a:prstGeom prst="rect">
            <a:avLst/>
          </a:prstGeom>
          <a:noFill/>
          <a:ln w="18097">
            <a:solidFill>
              <a:srgbClr val="FFD054"/>
            </a:solidFill>
          </a:ln>
        </p:spPr>
        <p:txBody>
          <a:bodyPr wrap="square" rtlCol="0" anchor="ctr"/>
          <a:lstStyle/>
          <a:p>
            <a:pPr indent="0" marL="0">
              <a:buNone/>
            </a:pPr>
            <a:endParaRPr lang="en-US" dirty="0"/>
          </a:p>
        </p:txBody>
      </p:sp>
      <p:sp>
        <p:nvSpPr>
          <p:cNvPr id="4" name="Text 2"/>
          <p:cNvSpPr/>
          <p:nvPr/>
        </p:nvSpPr>
        <p:spPr>
          <a:xfrm>
            <a:off x="471488" y="104775"/>
            <a:ext cx="2405063" cy="595313"/>
          </a:xfrm>
          <a:prstGeom prst="rect">
            <a:avLst/>
          </a:prstGeom>
          <a:noFill/>
          <a:ln/>
        </p:spPr>
        <p:txBody>
          <a:bodyPr wrap="square" lIns="0" tIns="0" rIns="0" bIns="0" rtlCol="0" anchor="ctr"/>
          <a:lstStyle/>
          <a:p>
            <a:pPr algn="ctr" indent="0" marL="0">
              <a:lnSpc>
                <a:spcPts val="4446"/>
              </a:lnSpc>
              <a:buNone/>
            </a:pPr>
            <a:r>
              <a:rPr lang="en-US" sz="3420" spc="-34" kern="0" dirty="0">
                <a:solidFill>
                  <a:srgbClr val="FFFFFF">
                    <a:alpha val="99000"/>
                  </a:srgbClr>
                </a:solidFill>
                <a:latin typeface="Georgia" pitchFamily="34" charset="0"/>
                <a:ea typeface="Georgia" pitchFamily="34" charset="-122"/>
                <a:cs typeface="Georgia" pitchFamily="34" charset="-120"/>
              </a:rPr>
              <a:t>Background</a:t>
            </a:r>
            <a:endParaRPr lang="en-US" sz="3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422737" y="219075"/>
            <a:ext cx="1670938"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Key Partners</a:t>
            </a:r>
            <a:endParaRPr lang="en-US" sz="2174" dirty="0"/>
          </a:p>
        </p:txBody>
      </p:sp>
      <p:sp>
        <p:nvSpPr>
          <p:cNvPr id="3" name="Text 1"/>
          <p:cNvSpPr/>
          <p:nvPr/>
        </p:nvSpPr>
        <p:spPr>
          <a:xfrm>
            <a:off x="204788" y="586863"/>
            <a:ext cx="2211268" cy="762000"/>
          </a:xfrm>
          <a:prstGeom prst="rect">
            <a:avLst/>
          </a:prstGeom>
          <a:noFill/>
          <a:ln/>
        </p:spPr>
        <p:txBody>
          <a:bodyPr wrap="square" lIns="0" tIns="0" rIns="0" bIns="0" rtlCol="0" anchor="ctr"/>
          <a:lstStyle/>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Mercy based organizations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Institutional Partnerships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Social Justice Partnerships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Faith Driven Supporters</a:t>
            </a:r>
            <a:endParaRPr lang="en-US" sz="1087" dirty="0"/>
          </a:p>
        </p:txBody>
      </p:sp>
      <p:sp>
        <p:nvSpPr>
          <p:cNvPr id="4" name="Text 2"/>
          <p:cNvSpPr/>
          <p:nvPr/>
        </p:nvSpPr>
        <p:spPr>
          <a:xfrm>
            <a:off x="423863" y="2714625"/>
            <a:ext cx="2314575"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Value propositions</a:t>
            </a:r>
            <a:endParaRPr lang="en-US" sz="2174" dirty="0"/>
          </a:p>
        </p:txBody>
      </p:sp>
      <p:sp>
        <p:nvSpPr>
          <p:cNvPr id="5" name="Text 3"/>
          <p:cNvSpPr/>
          <p:nvPr/>
        </p:nvSpPr>
        <p:spPr>
          <a:xfrm>
            <a:off x="423863" y="1466850"/>
            <a:ext cx="1389421"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Activities</a:t>
            </a:r>
            <a:endParaRPr lang="en-US" sz="2174" dirty="0"/>
          </a:p>
        </p:txBody>
      </p:sp>
      <p:sp>
        <p:nvSpPr>
          <p:cNvPr id="6" name="Text 4"/>
          <p:cNvSpPr/>
          <p:nvPr/>
        </p:nvSpPr>
        <p:spPr>
          <a:xfrm>
            <a:off x="423863" y="1833563"/>
            <a:ext cx="2270296"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Marketing</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Community Advocacy and Outreach</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Program Development</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Running Campaigns </a:t>
            </a:r>
            <a:endParaRPr lang="en-US" sz="1087" dirty="0"/>
          </a:p>
        </p:txBody>
      </p:sp>
      <p:sp>
        <p:nvSpPr>
          <p:cNvPr id="7" name="Text 5"/>
          <p:cNvSpPr/>
          <p:nvPr/>
        </p:nvSpPr>
        <p:spPr>
          <a:xfrm>
            <a:off x="452438" y="3081338"/>
            <a:ext cx="1843480" cy="5715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Advocacy/ Charity</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Founded by women</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Faith based Organization</a:t>
            </a:r>
            <a:endParaRPr lang="en-US" sz="1087" dirty="0"/>
          </a:p>
        </p:txBody>
      </p:sp>
      <p:sp>
        <p:nvSpPr>
          <p:cNvPr id="8" name="Text 6"/>
          <p:cNvSpPr/>
          <p:nvPr/>
        </p:nvSpPr>
        <p:spPr>
          <a:xfrm>
            <a:off x="423863" y="3771900"/>
            <a:ext cx="2376488" cy="328613"/>
          </a:xfrm>
          <a:prstGeom prst="rect">
            <a:avLst/>
          </a:prstGeom>
          <a:noFill/>
          <a:ln/>
        </p:spPr>
        <p:txBody>
          <a:bodyPr wrap="square" lIns="0" tIns="0" rIns="0" bIns="0" rtlCol="0" anchor="ctr"/>
          <a:lstStyle/>
          <a:p>
            <a:pPr algn="l" indent="0" marL="0">
              <a:lnSpc>
                <a:spcPts val="2442"/>
              </a:lnSpc>
              <a:buNone/>
            </a:pPr>
            <a:r>
              <a:rPr lang="en-US" sz="2180" spc="-44" kern="0" dirty="0">
                <a:solidFill>
                  <a:srgbClr val="FFD054">
                    <a:alpha val="99000"/>
                  </a:srgbClr>
                </a:solidFill>
                <a:latin typeface="Roboto" pitchFamily="34" charset="0"/>
                <a:ea typeface="Roboto" pitchFamily="34" charset="-122"/>
                <a:cs typeface="Roboto" pitchFamily="34" charset="-120"/>
              </a:rPr>
              <a:t>Cost Structures</a:t>
            </a:r>
            <a:endParaRPr lang="en-US" sz="2180" dirty="0"/>
          </a:p>
        </p:txBody>
      </p:sp>
      <p:sp>
        <p:nvSpPr>
          <p:cNvPr id="9" name="Text 7"/>
          <p:cNvSpPr/>
          <p:nvPr/>
        </p:nvSpPr>
        <p:spPr>
          <a:xfrm>
            <a:off x="452438" y="4143375"/>
            <a:ext cx="2138363" cy="800100"/>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Service Collaboration</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Educational Institutions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Human Resources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Property Maitenence</a:t>
            </a:r>
            <a:endParaRPr lang="en-US" sz="1140" dirty="0"/>
          </a:p>
        </p:txBody>
      </p:sp>
      <p:sp>
        <p:nvSpPr>
          <p:cNvPr id="10" name="Text 8"/>
          <p:cNvSpPr/>
          <p:nvPr/>
        </p:nvSpPr>
        <p:spPr>
          <a:xfrm>
            <a:off x="5638800" y="233362"/>
            <a:ext cx="1928813"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Key Resources</a:t>
            </a:r>
            <a:endParaRPr lang="en-US" sz="2174" dirty="0"/>
          </a:p>
        </p:txBody>
      </p:sp>
      <p:sp>
        <p:nvSpPr>
          <p:cNvPr id="11" name="Text 9"/>
          <p:cNvSpPr/>
          <p:nvPr/>
        </p:nvSpPr>
        <p:spPr>
          <a:xfrm>
            <a:off x="5668501" y="609600"/>
            <a:ext cx="2211268"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Human Resources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Financial Assets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Intellectual Property</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Physical Assets</a:t>
            </a:r>
            <a:endParaRPr lang="en-US" sz="1087" dirty="0"/>
          </a:p>
        </p:txBody>
      </p:sp>
      <p:sp>
        <p:nvSpPr>
          <p:cNvPr id="12" name="Text 10"/>
          <p:cNvSpPr/>
          <p:nvPr/>
        </p:nvSpPr>
        <p:spPr>
          <a:xfrm>
            <a:off x="5639926" y="2728913"/>
            <a:ext cx="2552700"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Customer Segments</a:t>
            </a:r>
            <a:endParaRPr lang="en-US" sz="2174" dirty="0"/>
          </a:p>
        </p:txBody>
      </p:sp>
      <p:sp>
        <p:nvSpPr>
          <p:cNvPr id="13" name="Text 11"/>
          <p:cNvSpPr/>
          <p:nvPr/>
        </p:nvSpPr>
        <p:spPr>
          <a:xfrm>
            <a:off x="5639926" y="1481138"/>
            <a:ext cx="2314575"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Revenue Streams</a:t>
            </a:r>
            <a:endParaRPr lang="en-US" sz="2174" dirty="0"/>
          </a:p>
        </p:txBody>
      </p:sp>
      <p:sp>
        <p:nvSpPr>
          <p:cNvPr id="14" name="Text 12"/>
          <p:cNvSpPr/>
          <p:nvPr/>
        </p:nvSpPr>
        <p:spPr>
          <a:xfrm>
            <a:off x="5639926" y="1847850"/>
            <a:ext cx="2270296"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Investment income</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Donations and Legacies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Fundraising Events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Service Fees</a:t>
            </a:r>
            <a:endParaRPr lang="en-US" sz="1087" dirty="0"/>
          </a:p>
        </p:txBody>
      </p:sp>
      <p:sp>
        <p:nvSpPr>
          <p:cNvPr id="15" name="Text 13"/>
          <p:cNvSpPr/>
          <p:nvPr/>
        </p:nvSpPr>
        <p:spPr>
          <a:xfrm>
            <a:off x="5668501" y="3095625"/>
            <a:ext cx="1843480" cy="5715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Legacy &amp; Donors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Service Users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Volunteers &amp; Activists</a:t>
            </a:r>
            <a:endParaRPr lang="en-US" sz="1087" dirty="0"/>
          </a:p>
        </p:txBody>
      </p:sp>
      <p:sp>
        <p:nvSpPr>
          <p:cNvPr id="16" name="Text 14"/>
          <p:cNvSpPr/>
          <p:nvPr/>
        </p:nvSpPr>
        <p:spPr>
          <a:xfrm>
            <a:off x="5639926" y="3786188"/>
            <a:ext cx="2376488" cy="328613"/>
          </a:xfrm>
          <a:prstGeom prst="rect">
            <a:avLst/>
          </a:prstGeom>
          <a:noFill/>
          <a:ln/>
        </p:spPr>
        <p:txBody>
          <a:bodyPr wrap="square" lIns="0" tIns="0" rIns="0" bIns="0" rtlCol="0" anchor="ctr"/>
          <a:lstStyle/>
          <a:p>
            <a:pPr algn="l" indent="0" marL="0">
              <a:lnSpc>
                <a:spcPts val="2442"/>
              </a:lnSpc>
              <a:buNone/>
            </a:pPr>
            <a:r>
              <a:rPr lang="en-US" sz="2180" spc="-44" kern="0" dirty="0">
                <a:solidFill>
                  <a:srgbClr val="FFFFFF">
                    <a:alpha val="99000"/>
                  </a:srgbClr>
                </a:solidFill>
                <a:latin typeface="Roboto" pitchFamily="34" charset="0"/>
                <a:ea typeface="Roboto" pitchFamily="34" charset="-122"/>
                <a:cs typeface="Roboto" pitchFamily="34" charset="-120"/>
              </a:rPr>
              <a:t>Channels</a:t>
            </a:r>
            <a:endParaRPr lang="en-US" sz="2180" dirty="0"/>
          </a:p>
        </p:txBody>
      </p:sp>
      <p:sp>
        <p:nvSpPr>
          <p:cNvPr id="17" name="Text 15"/>
          <p:cNvSpPr/>
          <p:nvPr/>
        </p:nvSpPr>
        <p:spPr>
          <a:xfrm>
            <a:off x="5668501" y="4157663"/>
            <a:ext cx="2138363" cy="800100"/>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Media/ Press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Partnerships/ Collaborations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Events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Email Newsletters</a:t>
            </a:r>
            <a:endParaRPr lang="en-US" sz="11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422737" y="219075"/>
            <a:ext cx="1670938"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Key Partners</a:t>
            </a:r>
            <a:endParaRPr lang="en-US" sz="2174" dirty="0"/>
          </a:p>
        </p:txBody>
      </p:sp>
      <p:sp>
        <p:nvSpPr>
          <p:cNvPr id="3" name="Text 1"/>
          <p:cNvSpPr/>
          <p:nvPr/>
        </p:nvSpPr>
        <p:spPr>
          <a:xfrm>
            <a:off x="204788" y="586863"/>
            <a:ext cx="2211268" cy="762000"/>
          </a:xfrm>
          <a:prstGeom prst="rect">
            <a:avLst/>
          </a:prstGeom>
          <a:noFill/>
          <a:ln/>
        </p:spPr>
        <p:txBody>
          <a:bodyPr wrap="square" lIns="0" tIns="0" rIns="0" bIns="0" rtlCol="0" anchor="ctr"/>
          <a:lstStyle/>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Mercy based organizations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Institutional Partnerships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Social Justice Partnerships</a:t>
            </a:r>
            <a:endParaRPr lang="en-US" sz="1087" dirty="0"/>
          </a:p>
          <a:p>
            <a:pPr algn="l" marL="342900" indent="-342900">
              <a:lnSpc>
                <a:spcPts val="1413"/>
              </a:lnSpc>
              <a:buSzPct val="100000"/>
              <a:buChar char="•"/>
            </a:pPr>
            <a:r>
              <a:rPr lang="en-US" sz="1087" spc="-11" kern="0" dirty="0">
                <a:solidFill>
                  <a:srgbClr val="FFFFFF">
                    <a:alpha val="99000"/>
                  </a:srgbClr>
                </a:solidFill>
                <a:latin typeface="Roboto" pitchFamily="34" charset="0"/>
                <a:ea typeface="Roboto" pitchFamily="34" charset="-122"/>
                <a:cs typeface="Roboto" pitchFamily="34" charset="-120"/>
              </a:rPr>
              <a:t>Faith Driven Supporters</a:t>
            </a:r>
            <a:endParaRPr lang="en-US" sz="1087" dirty="0"/>
          </a:p>
        </p:txBody>
      </p:sp>
      <p:sp>
        <p:nvSpPr>
          <p:cNvPr id="4" name="Text 2"/>
          <p:cNvSpPr/>
          <p:nvPr/>
        </p:nvSpPr>
        <p:spPr>
          <a:xfrm>
            <a:off x="423863" y="2714625"/>
            <a:ext cx="2314575"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Value propositions</a:t>
            </a:r>
            <a:endParaRPr lang="en-US" sz="2174" dirty="0"/>
          </a:p>
        </p:txBody>
      </p:sp>
      <p:sp>
        <p:nvSpPr>
          <p:cNvPr id="5" name="Text 3"/>
          <p:cNvSpPr/>
          <p:nvPr/>
        </p:nvSpPr>
        <p:spPr>
          <a:xfrm>
            <a:off x="423863" y="1466850"/>
            <a:ext cx="1389421"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FFFF">
                    <a:alpha val="99000"/>
                  </a:srgbClr>
                </a:solidFill>
                <a:latin typeface="Roboto" pitchFamily="34" charset="0"/>
                <a:ea typeface="Roboto" pitchFamily="34" charset="-122"/>
                <a:cs typeface="Roboto" pitchFamily="34" charset="-120"/>
              </a:rPr>
              <a:t>Activities</a:t>
            </a:r>
            <a:endParaRPr lang="en-US" sz="2174" dirty="0"/>
          </a:p>
        </p:txBody>
      </p:sp>
      <p:sp>
        <p:nvSpPr>
          <p:cNvPr id="6" name="Text 4"/>
          <p:cNvSpPr/>
          <p:nvPr/>
        </p:nvSpPr>
        <p:spPr>
          <a:xfrm>
            <a:off x="423863" y="1833563"/>
            <a:ext cx="2270296"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Marketing</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Community Advocacy and Outreach</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Program Development</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Running Campaigns </a:t>
            </a:r>
            <a:endParaRPr lang="en-US" sz="1087" dirty="0"/>
          </a:p>
        </p:txBody>
      </p:sp>
      <p:sp>
        <p:nvSpPr>
          <p:cNvPr id="7" name="Text 5"/>
          <p:cNvSpPr/>
          <p:nvPr/>
        </p:nvSpPr>
        <p:spPr>
          <a:xfrm>
            <a:off x="452438" y="3081338"/>
            <a:ext cx="1843480" cy="5715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Advocacy/ Charity</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Founded by women</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Faith based Organization</a:t>
            </a:r>
            <a:endParaRPr lang="en-US" sz="1087" dirty="0"/>
          </a:p>
        </p:txBody>
      </p:sp>
      <p:sp>
        <p:nvSpPr>
          <p:cNvPr id="8" name="Text 6"/>
          <p:cNvSpPr/>
          <p:nvPr/>
        </p:nvSpPr>
        <p:spPr>
          <a:xfrm>
            <a:off x="423863" y="3771900"/>
            <a:ext cx="2376488" cy="328613"/>
          </a:xfrm>
          <a:prstGeom prst="rect">
            <a:avLst/>
          </a:prstGeom>
          <a:noFill/>
          <a:ln/>
        </p:spPr>
        <p:txBody>
          <a:bodyPr wrap="square" lIns="0" tIns="0" rIns="0" bIns="0" rtlCol="0" anchor="ctr"/>
          <a:lstStyle/>
          <a:p>
            <a:pPr algn="l" indent="0" marL="0">
              <a:lnSpc>
                <a:spcPts val="2442"/>
              </a:lnSpc>
              <a:buNone/>
            </a:pPr>
            <a:r>
              <a:rPr lang="en-US" sz="2180" spc="-44" kern="0" dirty="0">
                <a:solidFill>
                  <a:srgbClr val="FFFFFF">
                    <a:alpha val="99000"/>
                  </a:srgbClr>
                </a:solidFill>
                <a:latin typeface="Roboto" pitchFamily="34" charset="0"/>
                <a:ea typeface="Roboto" pitchFamily="34" charset="-122"/>
                <a:cs typeface="Roboto" pitchFamily="34" charset="-120"/>
              </a:rPr>
              <a:t>Cost Structures</a:t>
            </a:r>
            <a:endParaRPr lang="en-US" sz="2180" dirty="0"/>
          </a:p>
        </p:txBody>
      </p:sp>
      <p:sp>
        <p:nvSpPr>
          <p:cNvPr id="9" name="Text 7"/>
          <p:cNvSpPr/>
          <p:nvPr/>
        </p:nvSpPr>
        <p:spPr>
          <a:xfrm>
            <a:off x="452438" y="4143375"/>
            <a:ext cx="2138363" cy="800100"/>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Service Collaboration</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Educational Institutions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Human Resources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Property Maitenence</a:t>
            </a:r>
            <a:endParaRPr lang="en-US" sz="1140" dirty="0"/>
          </a:p>
        </p:txBody>
      </p:sp>
      <p:sp>
        <p:nvSpPr>
          <p:cNvPr id="10" name="Text 8"/>
          <p:cNvSpPr/>
          <p:nvPr/>
        </p:nvSpPr>
        <p:spPr>
          <a:xfrm>
            <a:off x="4013662" y="233362"/>
            <a:ext cx="1928813"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Key Resources</a:t>
            </a:r>
            <a:endParaRPr lang="en-US" sz="2174" dirty="0"/>
          </a:p>
        </p:txBody>
      </p:sp>
      <p:sp>
        <p:nvSpPr>
          <p:cNvPr id="11" name="Text 9"/>
          <p:cNvSpPr/>
          <p:nvPr/>
        </p:nvSpPr>
        <p:spPr>
          <a:xfrm>
            <a:off x="4043363" y="609600"/>
            <a:ext cx="2211268"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Human Resources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Financial Assets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Intellectual Property</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Physical Assets</a:t>
            </a:r>
            <a:endParaRPr lang="en-US" sz="1087" dirty="0"/>
          </a:p>
        </p:txBody>
      </p:sp>
      <p:sp>
        <p:nvSpPr>
          <p:cNvPr id="12" name="Text 10"/>
          <p:cNvSpPr/>
          <p:nvPr/>
        </p:nvSpPr>
        <p:spPr>
          <a:xfrm>
            <a:off x="4014788" y="2728913"/>
            <a:ext cx="2552700"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Customer Segments</a:t>
            </a:r>
            <a:endParaRPr lang="en-US" sz="2174" dirty="0"/>
          </a:p>
        </p:txBody>
      </p:sp>
      <p:sp>
        <p:nvSpPr>
          <p:cNvPr id="13" name="Text 11"/>
          <p:cNvSpPr/>
          <p:nvPr/>
        </p:nvSpPr>
        <p:spPr>
          <a:xfrm>
            <a:off x="4014788" y="1481138"/>
            <a:ext cx="2314575" cy="323850"/>
          </a:xfrm>
          <a:prstGeom prst="rect">
            <a:avLst/>
          </a:prstGeom>
          <a:noFill/>
          <a:ln/>
        </p:spPr>
        <p:txBody>
          <a:bodyPr wrap="square" lIns="0" tIns="0" rIns="0" bIns="0" rtlCol="0" anchor="ctr"/>
          <a:lstStyle/>
          <a:p>
            <a:pPr algn="l" indent="0" marL="0">
              <a:lnSpc>
                <a:spcPts val="2435"/>
              </a:lnSpc>
              <a:buNone/>
            </a:pPr>
            <a:r>
              <a:rPr lang="en-US" sz="2174" spc="-43" kern="0" dirty="0">
                <a:solidFill>
                  <a:srgbClr val="FFD054">
                    <a:alpha val="99000"/>
                  </a:srgbClr>
                </a:solidFill>
                <a:latin typeface="Roboto" pitchFamily="34" charset="0"/>
                <a:ea typeface="Roboto" pitchFamily="34" charset="-122"/>
                <a:cs typeface="Roboto" pitchFamily="34" charset="-120"/>
              </a:rPr>
              <a:t>Revenue Streams</a:t>
            </a:r>
            <a:endParaRPr lang="en-US" sz="2174" dirty="0"/>
          </a:p>
        </p:txBody>
      </p:sp>
      <p:sp>
        <p:nvSpPr>
          <p:cNvPr id="14" name="Text 12"/>
          <p:cNvSpPr/>
          <p:nvPr/>
        </p:nvSpPr>
        <p:spPr>
          <a:xfrm>
            <a:off x="4014788" y="1847850"/>
            <a:ext cx="2270296" cy="7620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Investment income</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Donations and Legacies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Fundraising Events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Service Fees</a:t>
            </a:r>
            <a:endParaRPr lang="en-US" sz="1087" dirty="0"/>
          </a:p>
        </p:txBody>
      </p:sp>
      <p:sp>
        <p:nvSpPr>
          <p:cNvPr id="15" name="Text 13"/>
          <p:cNvSpPr/>
          <p:nvPr/>
        </p:nvSpPr>
        <p:spPr>
          <a:xfrm>
            <a:off x="4043363" y="3095625"/>
            <a:ext cx="1843480" cy="571500"/>
          </a:xfrm>
          <a:prstGeom prst="rect">
            <a:avLst/>
          </a:prstGeom>
          <a:noFill/>
          <a:ln/>
        </p:spPr>
        <p:txBody>
          <a:bodyPr wrap="square" lIns="0" tIns="0" rIns="0" bIns="0" rtlCol="0" anchor="ctr"/>
          <a:lstStyle/>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Legacy &amp; Donors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Service Users</a:t>
            </a:r>
            <a:endParaRPr lang="en-US" sz="1087" dirty="0"/>
          </a:p>
          <a:p>
            <a:pPr algn="l" indent="0" marL="0">
              <a:lnSpc>
                <a:spcPts val="1413"/>
              </a:lnSpc>
              <a:buNone/>
            </a:pPr>
            <a:r>
              <a:rPr lang="en-US" sz="1087" spc="-11" kern="0" dirty="0">
                <a:solidFill>
                  <a:srgbClr val="FFFFFF">
                    <a:alpha val="99000"/>
                  </a:srgbClr>
                </a:solidFill>
                <a:latin typeface="Roboto" pitchFamily="34" charset="0"/>
                <a:ea typeface="Roboto" pitchFamily="34" charset="-122"/>
                <a:cs typeface="Roboto" pitchFamily="34" charset="-120"/>
              </a:rPr>
              <a:t>Volunteers &amp; Activists</a:t>
            </a:r>
            <a:endParaRPr lang="en-US" sz="1087" dirty="0"/>
          </a:p>
        </p:txBody>
      </p:sp>
      <p:sp>
        <p:nvSpPr>
          <p:cNvPr id="16" name="Text 14"/>
          <p:cNvSpPr/>
          <p:nvPr/>
        </p:nvSpPr>
        <p:spPr>
          <a:xfrm>
            <a:off x="4014788" y="3786188"/>
            <a:ext cx="2376488" cy="328613"/>
          </a:xfrm>
          <a:prstGeom prst="rect">
            <a:avLst/>
          </a:prstGeom>
          <a:noFill/>
          <a:ln/>
        </p:spPr>
        <p:txBody>
          <a:bodyPr wrap="square" lIns="0" tIns="0" rIns="0" bIns="0" rtlCol="0" anchor="ctr"/>
          <a:lstStyle/>
          <a:p>
            <a:pPr algn="l" indent="0" marL="0">
              <a:lnSpc>
                <a:spcPts val="2442"/>
              </a:lnSpc>
              <a:buNone/>
            </a:pPr>
            <a:r>
              <a:rPr lang="en-US" sz="2180" spc="-44" kern="0" dirty="0">
                <a:solidFill>
                  <a:srgbClr val="FFD054">
                    <a:alpha val="99000"/>
                  </a:srgbClr>
                </a:solidFill>
                <a:latin typeface="Roboto" pitchFamily="34" charset="0"/>
                <a:ea typeface="Roboto" pitchFamily="34" charset="-122"/>
                <a:cs typeface="Roboto" pitchFamily="34" charset="-120"/>
              </a:rPr>
              <a:t>Channels</a:t>
            </a:r>
            <a:endParaRPr lang="en-US" sz="2180" dirty="0"/>
          </a:p>
        </p:txBody>
      </p:sp>
      <p:sp>
        <p:nvSpPr>
          <p:cNvPr id="17" name="Text 15"/>
          <p:cNvSpPr/>
          <p:nvPr/>
        </p:nvSpPr>
        <p:spPr>
          <a:xfrm>
            <a:off x="4043363" y="4157663"/>
            <a:ext cx="2138363" cy="800100"/>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Media/ Press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Partnerships/ Collaborations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Events</a:t>
            </a:r>
            <a:endParaRPr lang="en-US" sz="1140" dirty="0"/>
          </a:p>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Email Newsletters</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034B0"/>
        </a:solidFill>
      </p:bgPr>
    </p:bg>
    <p:spTree>
      <p:nvGrpSpPr>
        <p:cNvPr id="1" name=""/>
        <p:cNvGrpSpPr/>
        <p:nvPr/>
      </p:nvGrpSpPr>
      <p:grpSpPr>
        <a:xfrm>
          <a:off x="0" y="0"/>
          <a:ext cx="0" cy="0"/>
          <a:chOff x="0" y="0"/>
          <a:chExt cx="0" cy="0"/>
        </a:xfrm>
      </p:grpSpPr>
      <p:sp>
        <p:nvSpPr>
          <p:cNvPr id="3" name="Text 0"/>
          <p:cNvSpPr/>
          <p:nvPr/>
        </p:nvSpPr>
        <p:spPr>
          <a:xfrm>
            <a:off x="147638" y="609600"/>
            <a:ext cx="5686425" cy="328613"/>
          </a:xfrm>
          <a:prstGeom prst="rect">
            <a:avLst/>
          </a:prstGeom>
          <a:noFill/>
          <a:ln/>
        </p:spPr>
        <p:txBody>
          <a:bodyPr wrap="square" lIns="0" tIns="0" rIns="0" bIns="0" rtlCol="0" anchor="ctr"/>
          <a:lstStyle/>
          <a:p>
            <a:pPr algn="l" indent="0" marL="0">
              <a:lnSpc>
                <a:spcPts val="2462"/>
              </a:lnSpc>
              <a:buNone/>
            </a:pPr>
            <a:r>
              <a:rPr lang="en-US" sz="2280" spc="-68" kern="0" dirty="0">
                <a:solidFill>
                  <a:srgbClr val="FFFFFF">
                    <a:alpha val="99000"/>
                  </a:srgbClr>
                </a:solidFill>
                <a:latin typeface="Georgia" pitchFamily="34" charset="0"/>
                <a:ea typeface="Georgia" pitchFamily="34" charset="-122"/>
                <a:cs typeface="Georgia" pitchFamily="34" charset="-120"/>
              </a:rPr>
              <a:t>Begining Changes</a:t>
            </a:r>
            <a:endParaRPr lang="en-US" sz="2280" dirty="0"/>
          </a:p>
        </p:txBody>
      </p:sp>
      <p:sp>
        <p:nvSpPr>
          <p:cNvPr id="4" name="Text 1"/>
          <p:cNvSpPr/>
          <p:nvPr/>
        </p:nvSpPr>
        <p:spPr>
          <a:xfrm>
            <a:off x="1728788" y="1404938"/>
            <a:ext cx="5686425" cy="2571750"/>
          </a:xfrm>
          <a:prstGeom prst="rect">
            <a:avLst/>
          </a:prstGeom>
          <a:noFill/>
          <a:ln/>
        </p:spPr>
        <p:txBody>
          <a:bodyPr wrap="square" lIns="0" tIns="0" rIns="0" bIns="0" rtlCol="0" anchor="ctr"/>
          <a:lstStyle/>
          <a:p>
            <a:pPr algn="l" marL="342900" indent="-342900">
              <a:lnSpc>
                <a:spcPts val="1924"/>
              </a:lnSpc>
              <a:buSzPct val="100000"/>
              <a:buFont typeface="+mj-lt"/>
              <a:buAutoNum type="arabicPeriod" startAt="1"/>
            </a:pPr>
            <a:r>
              <a:rPr lang="en-US" sz="1425" b="1" spc="-13" kern="0" dirty="0">
                <a:solidFill>
                  <a:srgbClr val="FFFFFF">
                    <a:alpha val="99000"/>
                  </a:srgbClr>
                </a:solidFill>
                <a:latin typeface="Roboto" pitchFamily="34" charset="0"/>
                <a:ea typeface="Roboto" pitchFamily="34" charset="-122"/>
                <a:cs typeface="Roboto" pitchFamily="34" charset="-120"/>
              </a:rPr>
              <a:t>Adding Personalization to the Website</a:t>
            </a:r>
            <a:pPr algn="l" indent="0" marL="0">
              <a:lnSpc>
                <a:spcPts val="1924"/>
              </a:lnSpc>
              <a:buNone/>
            </a:pPr>
            <a:r>
              <a:rPr lang="en-US" sz="1425" spc="-13" kern="0" dirty="0">
                <a:solidFill>
                  <a:srgbClr val="FFFFFF">
                    <a:alpha val="99000"/>
                  </a:srgbClr>
                </a:solidFill>
                <a:latin typeface="Roboto" pitchFamily="34" charset="0"/>
                <a:ea typeface="Roboto" pitchFamily="34" charset="-122"/>
                <a:cs typeface="Roboto" pitchFamily="34" charset="-120"/>
              </a:rPr>
              <a:t>: Creating a section where you can create an account. They can list topics they are passionate on to create an algorithm for events and articles</a:t>
            </a:r>
            <a:endParaRPr lang="en-US" sz="1425" dirty="0"/>
          </a:p>
          <a:p>
            <a:pPr algn="l" marL="342900" indent="-342900">
              <a:lnSpc>
                <a:spcPts val="1924"/>
              </a:lnSpc>
              <a:buSzPct val="100000"/>
              <a:buFont typeface="+mj-lt"/>
              <a:buAutoNum type="arabicPeriod" startAt="1"/>
            </a:pPr>
            <a:r>
              <a:rPr lang="en-US" sz="1425" b="1" spc="-13" kern="0" dirty="0">
                <a:solidFill>
                  <a:srgbClr val="FFFFFF">
                    <a:alpha val="99000"/>
                  </a:srgbClr>
                </a:solidFill>
                <a:latin typeface="Roboto" pitchFamily="34" charset="0"/>
                <a:ea typeface="Roboto" pitchFamily="34" charset="-122"/>
                <a:cs typeface="Roboto" pitchFamily="34" charset="-120"/>
              </a:rPr>
              <a:t>Creating a meaningful experience for Donors: </a:t>
            </a:r>
            <a:pPr algn="l" indent="0" marL="0">
              <a:lnSpc>
                <a:spcPts val="1924"/>
              </a:lnSpc>
              <a:buNone/>
            </a:pPr>
            <a:r>
              <a:rPr lang="en-US" sz="1425" spc="-13" kern="0" dirty="0">
                <a:solidFill>
                  <a:srgbClr val="FFFFFF">
                    <a:alpha val="99000"/>
                  </a:srgbClr>
                </a:solidFill>
                <a:latin typeface="Roboto" pitchFamily="34" charset="0"/>
                <a:ea typeface="Roboto" pitchFamily="34" charset="-122"/>
                <a:cs typeface="Roboto" pitchFamily="34" charset="-120"/>
              </a:rPr>
              <a:t>S Sending notifications of impact updates on the cause they donated to will keep the users engaged post donation.</a:t>
            </a:r>
            <a:endParaRPr lang="en-US" sz="1425" dirty="0"/>
          </a:p>
          <a:p>
            <a:pPr algn="l" marL="342900" indent="-342900">
              <a:lnSpc>
                <a:spcPts val="1924"/>
              </a:lnSpc>
              <a:buSzPct val="100000"/>
              <a:buFont typeface="+mj-lt"/>
              <a:buAutoNum type="arabicPeriod" startAt="1"/>
            </a:pPr>
            <a:r>
              <a:rPr lang="en-US" sz="1425" spc="-13" kern="0" dirty="0">
                <a:solidFill>
                  <a:srgbClr val="FFFFFF">
                    <a:alpha val="99000"/>
                  </a:srgbClr>
                </a:solidFill>
                <a:latin typeface="Roboto" pitchFamily="34" charset="0"/>
                <a:ea typeface="Roboto" pitchFamily="34" charset="-122"/>
                <a:cs typeface="Roboto" pitchFamily="34" charset="-120"/>
              </a:rPr>
              <a:t>I</a:t>
            </a:r>
            <a:pPr algn="l" indent="0" marL="0">
              <a:lnSpc>
                <a:spcPts val="1924"/>
              </a:lnSpc>
              <a:buNone/>
            </a:pPr>
            <a:r>
              <a:rPr lang="en-US" sz="1425" b="1" spc="-13" kern="0" dirty="0">
                <a:solidFill>
                  <a:srgbClr val="FFFFFF">
                    <a:alpha val="99000"/>
                  </a:srgbClr>
                </a:solidFill>
                <a:latin typeface="Roboto" pitchFamily="34" charset="0"/>
                <a:ea typeface="Roboto" pitchFamily="34" charset="-122"/>
                <a:cs typeface="Roboto" pitchFamily="34" charset="-120"/>
              </a:rPr>
              <a:t>ncreasing Youth engagement</a:t>
            </a:r>
            <a:pPr algn="l" indent="0" marL="0">
              <a:lnSpc>
                <a:spcPts val="1924"/>
              </a:lnSpc>
              <a:buNone/>
            </a:pPr>
            <a:r>
              <a:rPr lang="en-US" sz="1425" spc="-13" kern="0" dirty="0">
                <a:solidFill>
                  <a:srgbClr val="FFFFFF">
                    <a:alpha val="99000"/>
                  </a:srgbClr>
                </a:solidFill>
                <a:latin typeface="Roboto" pitchFamily="34" charset="0"/>
                <a:ea typeface="Roboto" pitchFamily="34" charset="-122"/>
                <a:cs typeface="Roboto" pitchFamily="34" charset="-120"/>
              </a:rPr>
              <a:t>: Creating a </a:t>
            </a:r>
            <a:pPr algn="l" indent="0" marL="0">
              <a:lnSpc>
                <a:spcPts val="1924"/>
              </a:lnSpc>
              <a:buNone/>
            </a:pPr>
            <a:r>
              <a:rPr lang="en-US" sz="1425" u="sng" spc="-13" kern="0" dirty="0">
                <a:solidFill>
                  <a:srgbClr val="FFFFFF">
                    <a:alpha val="99000"/>
                  </a:srgbClr>
                </a:solidFill>
                <a:latin typeface="Roboto" pitchFamily="34" charset="0"/>
                <a:ea typeface="Roboto" pitchFamily="34" charset="-122"/>
                <a:cs typeface="Roboto" pitchFamily="34" charset="-120"/>
              </a:rPr>
              <a:t>strong brand identi</a:t>
            </a:r>
            <a:pPr algn="l" indent="0" marL="0">
              <a:lnSpc>
                <a:spcPts val="1924"/>
              </a:lnSpc>
              <a:buNone/>
            </a:pPr>
            <a:r>
              <a:rPr lang="en-US" sz="1425" spc="-13" kern="0" dirty="0">
                <a:solidFill>
                  <a:srgbClr val="FFFFFF">
                    <a:alpha val="99000"/>
                  </a:srgbClr>
                </a:solidFill>
                <a:latin typeface="Roboto" pitchFamily="34" charset="0"/>
                <a:ea typeface="Roboto" pitchFamily="34" charset="-122"/>
                <a:cs typeface="Roboto" pitchFamily="34" charset="-120"/>
              </a:rPr>
              <a:t>ty, and adding new processes on social media will attract younger users.Like creating </a:t>
            </a:r>
            <a:pPr algn="l" indent="0" marL="0">
              <a:lnSpc>
                <a:spcPts val="1924"/>
              </a:lnSpc>
              <a:buNone/>
            </a:pPr>
            <a:r>
              <a:rPr lang="en-US" sz="1425" u="sng" spc="-13" kern="0" dirty="0">
                <a:solidFill>
                  <a:srgbClr val="FFFFFF">
                    <a:alpha val="99000"/>
                  </a:srgbClr>
                </a:solidFill>
                <a:latin typeface="Roboto" pitchFamily="34" charset="0"/>
                <a:ea typeface="Roboto" pitchFamily="34" charset="-122"/>
                <a:cs typeface="Roboto" pitchFamily="34" charset="-120"/>
              </a:rPr>
              <a:t>video articles</a:t>
            </a:r>
            <a:pPr algn="l" indent="0" marL="0">
              <a:lnSpc>
                <a:spcPts val="1924"/>
              </a:lnSpc>
              <a:buNone/>
            </a:pPr>
            <a:r>
              <a:rPr lang="en-US" sz="1425" spc="-13" kern="0" dirty="0">
                <a:solidFill>
                  <a:srgbClr val="FFFFFF">
                    <a:alpha val="99000"/>
                  </a:srgbClr>
                </a:solidFill>
                <a:latin typeface="Roboto" pitchFamily="34" charset="0"/>
                <a:ea typeface="Roboto" pitchFamily="34" charset="-122"/>
                <a:cs typeface="Roboto" pitchFamily="34" charset="-120"/>
              </a:rPr>
              <a:t> on social media.</a:t>
            </a:r>
            <a:endParaRPr lang="en-US" sz="14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C2062"/>
        </a:solidFill>
      </p:bgPr>
    </p:bg>
    <p:spTree>
      <p:nvGrpSpPr>
        <p:cNvPr id="1" name=""/>
        <p:cNvGrpSpPr/>
        <p:nvPr/>
      </p:nvGrpSpPr>
      <p:grpSpPr>
        <a:xfrm>
          <a:off x="0" y="0"/>
          <a:ext cx="0" cy="0"/>
          <a:chOff x="0" y="0"/>
          <a:chExt cx="0" cy="0"/>
        </a:xfrm>
      </p:grpSpPr>
      <p:sp>
        <p:nvSpPr>
          <p:cNvPr id="3" name="Shape 0"/>
          <p:cNvSpPr/>
          <p:nvPr/>
        </p:nvSpPr>
        <p:spPr>
          <a:xfrm>
            <a:off x="381000" y="2105025"/>
            <a:ext cx="4557713" cy="938213"/>
          </a:xfrm>
          <a:prstGeom prst="rect">
            <a:avLst/>
          </a:prstGeom>
          <a:noFill/>
          <a:ln/>
        </p:spPr>
      </p:sp>
      <p:sp>
        <p:nvSpPr>
          <p:cNvPr id="4" name="Text 1"/>
          <p:cNvSpPr/>
          <p:nvPr/>
        </p:nvSpPr>
        <p:spPr>
          <a:xfrm>
            <a:off x="381000" y="2105025"/>
            <a:ext cx="4557713" cy="547688"/>
          </a:xfrm>
          <a:prstGeom prst="rect">
            <a:avLst/>
          </a:prstGeom>
          <a:noFill/>
          <a:ln/>
        </p:spPr>
        <p:txBody>
          <a:bodyPr wrap="square" lIns="0" tIns="0" rIns="0" bIns="0" rtlCol="0" anchor="ctr"/>
          <a:lstStyle/>
          <a:p>
            <a:pPr algn="l" indent="0" marL="0">
              <a:lnSpc>
                <a:spcPts val="4104"/>
              </a:lnSpc>
              <a:buNone/>
            </a:pPr>
            <a:r>
              <a:rPr lang="en-US" sz="3420" b="1" spc="-103" kern="0" dirty="0">
                <a:solidFill>
                  <a:srgbClr val="FFFFFF">
                    <a:alpha val="99000"/>
                  </a:srgbClr>
                </a:solidFill>
                <a:latin typeface="Georgia" pitchFamily="34" charset="0"/>
                <a:ea typeface="Georgia" pitchFamily="34" charset="-122"/>
                <a:cs typeface="Georgia" pitchFamily="34" charset="-120"/>
              </a:rPr>
              <a:t>Methodology</a:t>
            </a:r>
            <a:endParaRPr lang="en-US" sz="3420" dirty="0"/>
          </a:p>
        </p:txBody>
      </p:sp>
      <p:sp>
        <p:nvSpPr>
          <p:cNvPr id="5" name="Text 2"/>
          <p:cNvSpPr/>
          <p:nvPr/>
        </p:nvSpPr>
        <p:spPr>
          <a:xfrm>
            <a:off x="381000" y="2843213"/>
            <a:ext cx="4557713"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How I conducted the testing</a:t>
            </a:r>
            <a:endParaRPr lang="en-US" sz="1140" dirty="0"/>
          </a:p>
        </p:txBody>
      </p:sp>
      <p:sp>
        <p:nvSpPr>
          <p:cNvPr id="6" name="Shape 3"/>
          <p:cNvSpPr/>
          <p:nvPr/>
        </p:nvSpPr>
        <p:spPr>
          <a:xfrm>
            <a:off x="381000" y="609600"/>
            <a:ext cx="581025" cy="238125"/>
          </a:xfrm>
          <a:prstGeom prst="roundRect">
            <a:avLst>
              <a:gd name="adj" fmla="val 476160"/>
            </a:avLst>
          </a:prstGeom>
          <a:solidFill>
            <a:srgbClr val="FFFFFF"/>
          </a:solidFill>
          <a:ln/>
        </p:spPr>
      </p:sp>
      <p:sp>
        <p:nvSpPr>
          <p:cNvPr id="7" name="Text 4"/>
          <p:cNvSpPr/>
          <p:nvPr/>
        </p:nvSpPr>
        <p:spPr>
          <a:xfrm>
            <a:off x="495300" y="666750"/>
            <a:ext cx="352425" cy="133350"/>
          </a:xfrm>
          <a:prstGeom prst="rect">
            <a:avLst/>
          </a:prstGeom>
          <a:noFill/>
          <a:ln/>
        </p:spPr>
        <p:txBody>
          <a:bodyPr wrap="square" lIns="0" tIns="0" rIns="0" bIns="0" rtlCol="0" anchor="ctr"/>
          <a:lstStyle/>
          <a:p>
            <a:pPr algn="l" indent="0" marL="0">
              <a:lnSpc>
                <a:spcPts val="1002"/>
              </a:lnSpc>
              <a:buNone/>
            </a:pPr>
            <a:r>
              <a:rPr lang="en-US" sz="855" b="1" spc="34" kern="0" dirty="0">
                <a:solidFill>
                  <a:srgbClr val="111111">
                    <a:alpha val="99000"/>
                  </a:srgbClr>
                </a:solidFill>
                <a:latin typeface="Roboto" pitchFamily="34" charset="0"/>
                <a:ea typeface="Roboto" pitchFamily="34" charset="-122"/>
                <a:cs typeface="Roboto" pitchFamily="34" charset="-120"/>
              </a:rPr>
              <a:t>TOPIC</a:t>
            </a:r>
            <a:endParaRPr lang="en-US" sz="855" dirty="0"/>
          </a:p>
        </p:txBody>
      </p:sp>
      <p:sp>
        <p:nvSpPr>
          <p:cNvPr id="8" name="Shape 5"/>
          <p:cNvSpPr/>
          <p:nvPr/>
        </p:nvSpPr>
        <p:spPr>
          <a:xfrm>
            <a:off x="1047750" y="609600"/>
            <a:ext cx="728663" cy="238125"/>
          </a:xfrm>
          <a:prstGeom prst="roundRect">
            <a:avLst>
              <a:gd name="adj" fmla="val 476160"/>
            </a:avLst>
          </a:prstGeom>
          <a:solidFill>
            <a:srgbClr val="FFFFFF"/>
          </a:solidFill>
          <a:ln/>
        </p:spPr>
      </p:sp>
      <p:sp>
        <p:nvSpPr>
          <p:cNvPr id="9" name="Text 6"/>
          <p:cNvSpPr/>
          <p:nvPr/>
        </p:nvSpPr>
        <p:spPr>
          <a:xfrm>
            <a:off x="1162050" y="666750"/>
            <a:ext cx="500063" cy="133350"/>
          </a:xfrm>
          <a:prstGeom prst="rect">
            <a:avLst/>
          </a:prstGeom>
          <a:noFill/>
          <a:ln/>
        </p:spPr>
        <p:txBody>
          <a:bodyPr wrap="square" lIns="0" tIns="0" rIns="0" bIns="0" rtlCol="0" anchor="ctr"/>
          <a:lstStyle/>
          <a:p>
            <a:pPr algn="l" indent="0" marL="0">
              <a:lnSpc>
                <a:spcPts val="1002"/>
              </a:lnSpc>
              <a:buNone/>
            </a:pPr>
            <a:r>
              <a:rPr lang="en-US" sz="855" b="1" spc="34" kern="0" dirty="0">
                <a:solidFill>
                  <a:srgbClr val="111111">
                    <a:alpha val="99000"/>
                  </a:srgbClr>
                </a:solidFill>
                <a:latin typeface="Roboto" pitchFamily="34" charset="0"/>
                <a:ea typeface="Roboto" pitchFamily="34" charset="-122"/>
                <a:cs typeface="Roboto" pitchFamily="34" charset="-120"/>
              </a:rPr>
              <a:t>TESTING</a:t>
            </a:r>
            <a:endParaRPr lang="en-US" sz="855" dirty="0"/>
          </a:p>
        </p:txBody>
      </p:sp>
      <p:sp>
        <p:nvSpPr>
          <p:cNvPr id="10" name="Text 7"/>
          <p:cNvSpPr/>
          <p:nvPr/>
        </p:nvSpPr>
        <p:spPr>
          <a:xfrm>
            <a:off x="4572000" y="2471738"/>
            <a:ext cx="0"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D9D9D9">
                    <a:alpha val="99000"/>
                  </a:srgbClr>
                </a:solidFill>
                <a:latin typeface="Roboto" pitchFamily="34" charset="0"/>
                <a:ea typeface="Roboto" pitchFamily="34" charset="-122"/>
                <a:cs typeface="Roboto" pitchFamily="34" charset="-120"/>
              </a:rPr>
              <a:t> </a:t>
            </a:r>
            <a:endParaRPr lang="en-US" sz="1140" dirty="0"/>
          </a:p>
        </p:txBody>
      </p:sp>
      <p:sp>
        <p:nvSpPr>
          <p:cNvPr id="11" name="Text 8"/>
          <p:cNvSpPr/>
          <p:nvPr/>
        </p:nvSpPr>
        <p:spPr>
          <a:xfrm>
            <a:off x="4572000" y="2471738"/>
            <a:ext cx="0"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D9D9D9">
                    <a:alpha val="99000"/>
                  </a:srgbClr>
                </a:solidFill>
                <a:latin typeface="Roboto" pitchFamily="34" charset="0"/>
                <a:ea typeface="Roboto" pitchFamily="34" charset="-122"/>
                <a:cs typeface="Roboto" pitchFamily="34" charset="-120"/>
              </a:rPr>
              <a:t> </a:t>
            </a:r>
            <a:endParaRPr lang="en-US" sz="1140" dirty="0"/>
          </a:p>
        </p:txBody>
      </p:sp>
      <p:sp>
        <p:nvSpPr>
          <p:cNvPr id="12" name="Text 9"/>
          <p:cNvSpPr/>
          <p:nvPr/>
        </p:nvSpPr>
        <p:spPr>
          <a:xfrm>
            <a:off x="4572000" y="2471738"/>
            <a:ext cx="0"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D9D9D9">
                    <a:alpha val="99000"/>
                  </a:srgbClr>
                </a:solidFill>
                <a:latin typeface="Roboto" pitchFamily="34" charset="0"/>
                <a:ea typeface="Roboto" pitchFamily="34" charset="-122"/>
                <a:cs typeface="Roboto" pitchFamily="34" charset="-120"/>
              </a:rPr>
              <a:t> </a:t>
            </a:r>
            <a:endParaRPr lang="en-US" sz="1140" dirty="0"/>
          </a:p>
        </p:txBody>
      </p:sp>
      <p:sp>
        <p:nvSpPr>
          <p:cNvPr id="13" name="Text 10"/>
          <p:cNvSpPr/>
          <p:nvPr/>
        </p:nvSpPr>
        <p:spPr>
          <a:xfrm>
            <a:off x="4572000" y="2471738"/>
            <a:ext cx="0"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D9D9D9">
                    <a:alpha val="99000"/>
                  </a:srgbClr>
                </a:solidFill>
                <a:latin typeface="Roboto" pitchFamily="34" charset="0"/>
                <a:ea typeface="Roboto" pitchFamily="34" charset="-122"/>
                <a:cs typeface="Roboto" pitchFamily="34" charset="-120"/>
              </a:rPr>
              <a:t> </a:t>
            </a:r>
            <a:endParaRPr lang="en-US" sz="1140" dirty="0"/>
          </a:p>
        </p:txBody>
      </p:sp>
      <p:sp>
        <p:nvSpPr>
          <p:cNvPr id="14" name="Text 11"/>
          <p:cNvSpPr/>
          <p:nvPr/>
        </p:nvSpPr>
        <p:spPr>
          <a:xfrm>
            <a:off x="5210175" y="1576388"/>
            <a:ext cx="4763" cy="200025"/>
          </a:xfrm>
          <a:prstGeom prst="rect">
            <a:avLst/>
          </a:prstGeom>
          <a:noFill/>
          <a:ln/>
        </p:spPr>
        <p:txBody>
          <a:bodyPr wrap="square" lIns="0" tIns="0" rIns="0" bIns="0" rtlCol="0" anchor="ctr"/>
          <a:lstStyle/>
          <a:p>
            <a:pPr indent="0" marL="0">
              <a:buNone/>
            </a:pPr>
            <a:endParaRPr lang="en-US" dirty="0"/>
          </a:p>
        </p:txBody>
      </p:sp>
      <p:sp>
        <p:nvSpPr>
          <p:cNvPr id="15" name="Text 12"/>
          <p:cNvSpPr/>
          <p:nvPr/>
        </p:nvSpPr>
        <p:spPr>
          <a:xfrm>
            <a:off x="5486400" y="1490663"/>
            <a:ext cx="3381375" cy="2590800"/>
          </a:xfrm>
          <a:prstGeom prst="rect">
            <a:avLst/>
          </a:prstGeom>
          <a:noFill/>
          <a:ln/>
        </p:spPr>
        <p:txBody>
          <a:bodyPr wrap="square" lIns="0" tIns="0" rIns="0" bIns="0" rtlCol="0" anchor="ctr"/>
          <a:lstStyle/>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Stakeholder Interview</a:t>
            </a:r>
            <a:endParaRPr lang="en-US" sz="2138" dirty="0"/>
          </a:p>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KPI’s/7Ps</a:t>
            </a:r>
            <a:endParaRPr lang="en-US" sz="2138" dirty="0"/>
          </a:p>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User Interviews</a:t>
            </a:r>
            <a:endParaRPr lang="en-US" sz="2138" dirty="0"/>
          </a:p>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User Personas</a:t>
            </a:r>
            <a:endParaRPr lang="en-US" sz="2138" dirty="0"/>
          </a:p>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Empathy Mapping</a:t>
            </a:r>
            <a:endParaRPr lang="en-US" sz="2138" dirty="0"/>
          </a:p>
          <a:p>
            <a:pPr algn="l" indent="0" marL="0">
              <a:lnSpc>
                <a:spcPts val="2779"/>
              </a:lnSpc>
              <a:buNone/>
            </a:pPr>
            <a:r>
              <a:rPr lang="en-US" sz="2138" spc="-21" kern="0" dirty="0">
                <a:solidFill>
                  <a:srgbClr val="FFFFFF">
                    <a:alpha val="99000"/>
                  </a:srgbClr>
                </a:solidFill>
                <a:latin typeface="Georgia" pitchFamily="34" charset="0"/>
                <a:ea typeface="Georgia" pitchFamily="34" charset="-122"/>
                <a:cs typeface="Georgia" pitchFamily="34" charset="-120"/>
              </a:rPr>
              <a:t>Survey</a:t>
            </a:r>
            <a:endParaRPr lang="en-US" sz="21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C2062"/>
        </a:solidFill>
      </p:bgPr>
    </p:bg>
    <p:spTree>
      <p:nvGrpSpPr>
        <p:cNvPr id="1" name=""/>
        <p:cNvGrpSpPr/>
        <p:nvPr/>
      </p:nvGrpSpPr>
      <p:grpSpPr>
        <a:xfrm>
          <a:off x="0" y="0"/>
          <a:ext cx="0" cy="0"/>
          <a:chOff x="0" y="0"/>
          <a:chExt cx="0" cy="0"/>
        </a:xfrm>
      </p:grpSpPr>
      <p:sp>
        <p:nvSpPr>
          <p:cNvPr id="2" name="Text 0"/>
          <p:cNvSpPr/>
          <p:nvPr/>
        </p:nvSpPr>
        <p:spPr>
          <a:xfrm>
            <a:off x="609600" y="2076450"/>
            <a:ext cx="3962400" cy="990600"/>
          </a:xfrm>
          <a:prstGeom prst="rect">
            <a:avLst/>
          </a:prstGeom>
          <a:noFill/>
          <a:ln/>
        </p:spPr>
        <p:txBody>
          <a:bodyPr wrap="square" lIns="0" tIns="0" rIns="0" bIns="0" rtlCol="0" anchor="ctr"/>
          <a:lstStyle/>
          <a:p>
            <a:pPr algn="l" indent="0" marL="0">
              <a:lnSpc>
                <a:spcPts val="3694"/>
              </a:lnSpc>
              <a:buNone/>
            </a:pPr>
            <a:r>
              <a:rPr lang="en-US" sz="3420" spc="-103" kern="0" dirty="0">
                <a:solidFill>
                  <a:srgbClr val="FFFFFF">
                    <a:alpha val="99000"/>
                  </a:srgbClr>
                </a:solidFill>
                <a:latin typeface="Georgia" pitchFamily="34" charset="0"/>
                <a:ea typeface="Georgia" pitchFamily="34" charset="-122"/>
                <a:cs typeface="Georgia" pitchFamily="34" charset="-120"/>
              </a:rPr>
              <a:t>Stakeholder Interview</a:t>
            </a:r>
            <a:endParaRPr lang="en-US" sz="3420" dirty="0"/>
          </a:p>
        </p:txBody>
      </p:sp>
      <p:sp>
        <p:nvSpPr>
          <p:cNvPr id="3" name="Text 1"/>
          <p:cNvSpPr/>
          <p:nvPr/>
        </p:nvSpPr>
        <p:spPr>
          <a:xfrm>
            <a:off x="4329113" y="1628775"/>
            <a:ext cx="4210050" cy="1743075"/>
          </a:xfrm>
          <a:prstGeom prst="rect">
            <a:avLst/>
          </a:prstGeom>
          <a:noFill/>
          <a:ln/>
        </p:spPr>
        <p:txBody>
          <a:bodyPr wrap="square" lIns="0" tIns="0" rIns="0" bIns="0" rtlCol="0" anchor="ctr"/>
          <a:lstStyle/>
          <a:p>
            <a:pPr algn="l" indent="0" marL="0">
              <a:lnSpc>
                <a:spcPts val="2223"/>
              </a:lnSpc>
              <a:buNone/>
            </a:pPr>
            <a:r>
              <a:rPr lang="en-US" sz="1710" spc="-17" kern="0" dirty="0">
                <a:solidFill>
                  <a:srgbClr val="FFFFFF">
                    <a:alpha val="99000"/>
                  </a:srgbClr>
                </a:solidFill>
                <a:latin typeface="Roboto" pitchFamily="34" charset="0"/>
                <a:ea typeface="Roboto" pitchFamily="34" charset="-122"/>
                <a:cs typeface="Roboto" pitchFamily="34" charset="-120"/>
              </a:rPr>
              <a:t>Summary:</a:t>
            </a:r>
            <a:endParaRPr lang="en-US" sz="1710" dirty="0"/>
          </a:p>
          <a:p>
            <a:pPr algn="l" marL="342900" indent="-342900">
              <a:lnSpc>
                <a:spcPts val="1575"/>
              </a:lnSpc>
              <a:buSzPct val="100000"/>
              <a:buChar char="•"/>
            </a:pPr>
            <a:r>
              <a:rPr lang="en-US" sz="1211" spc="-12" kern="0" dirty="0">
                <a:solidFill>
                  <a:srgbClr val="FFFFFF">
                    <a:alpha val="99000"/>
                  </a:srgbClr>
                </a:solidFill>
                <a:latin typeface="Roboto" pitchFamily="34" charset="0"/>
                <a:ea typeface="Roboto" pitchFamily="34" charset="-122"/>
                <a:cs typeface="Roboto" pitchFamily="34" charset="-120"/>
              </a:rPr>
              <a:t>Younger and Older audiences respond to real stories.</a:t>
            </a:r>
            <a:endParaRPr lang="en-US" sz="1710" dirty="0"/>
          </a:p>
          <a:p>
            <a:pPr algn="l" marL="342900" indent="-342900">
              <a:lnSpc>
                <a:spcPts val="1575"/>
              </a:lnSpc>
              <a:buSzPct val="100000"/>
              <a:buChar char="•"/>
            </a:pPr>
            <a:r>
              <a:rPr lang="en-US" sz="1211" spc="-12" kern="0" dirty="0">
                <a:solidFill>
                  <a:srgbClr val="FFFFFF">
                    <a:alpha val="99000"/>
                  </a:srgbClr>
                </a:solidFill>
                <a:latin typeface="Roboto" pitchFamily="34" charset="0"/>
                <a:ea typeface="Roboto" pitchFamily="34" charset="-122"/>
                <a:cs typeface="Roboto" pitchFamily="34" charset="-120"/>
              </a:rPr>
              <a:t>People don’t know where to start on the website.</a:t>
            </a:r>
            <a:endParaRPr lang="en-US" sz="1710" dirty="0"/>
          </a:p>
          <a:p>
            <a:pPr algn="l" marL="342900" indent="-342900">
              <a:lnSpc>
                <a:spcPts val="1575"/>
              </a:lnSpc>
              <a:buSzPct val="100000"/>
              <a:buChar char="•"/>
            </a:pPr>
            <a:r>
              <a:rPr lang="en-US" sz="1211" spc="-12" kern="0" dirty="0">
                <a:solidFill>
                  <a:srgbClr val="FFFFFF">
                    <a:alpha val="99000"/>
                  </a:srgbClr>
                </a:solidFill>
                <a:latin typeface="Roboto" pitchFamily="34" charset="0"/>
                <a:ea typeface="Roboto" pitchFamily="34" charset="-122"/>
                <a:cs typeface="Roboto" pitchFamily="34" charset="-120"/>
              </a:rPr>
              <a:t>Trying to engage with younger audiences</a:t>
            </a:r>
            <a:endParaRPr lang="en-US" sz="1710" dirty="0"/>
          </a:p>
          <a:p>
            <a:pPr algn="l" marL="342900" indent="-342900">
              <a:lnSpc>
                <a:spcPts val="1575"/>
              </a:lnSpc>
              <a:buSzPct val="100000"/>
              <a:buChar char="•"/>
            </a:pPr>
            <a:r>
              <a:rPr lang="en-US" sz="1211" spc="-12" kern="0" dirty="0">
                <a:solidFill>
                  <a:srgbClr val="FFFFFF">
                    <a:alpha val="99000"/>
                  </a:srgbClr>
                </a:solidFill>
                <a:latin typeface="Roboto" pitchFamily="34" charset="0"/>
                <a:ea typeface="Roboto" pitchFamily="34" charset="-122"/>
                <a:cs typeface="Roboto" pitchFamily="34" charset="-120"/>
              </a:rPr>
              <a:t>There are dIfferent needs for different ages.</a:t>
            </a:r>
            <a:endParaRPr lang="en-US" sz="1710" dirty="0"/>
          </a:p>
          <a:p>
            <a:pPr algn="l" marL="342900" indent="-342900">
              <a:lnSpc>
                <a:spcPts val="1575"/>
              </a:lnSpc>
              <a:buSzPct val="100000"/>
              <a:buChar char="•"/>
            </a:pPr>
            <a:r>
              <a:rPr lang="en-US" sz="1211" spc="-12" kern="0" dirty="0">
                <a:solidFill>
                  <a:srgbClr val="FFFFFF">
                    <a:alpha val="99000"/>
                  </a:srgbClr>
                </a:solidFill>
                <a:latin typeface="Roboto" pitchFamily="34" charset="0"/>
                <a:ea typeface="Roboto" pitchFamily="34" charset="-122"/>
                <a:cs typeface="Roboto" pitchFamily="34" charset="-120"/>
              </a:rPr>
              <a:t>Want to create a cohesive experience that is clear to understand.</a:t>
            </a:r>
            <a:endParaRPr lang="en-US" sz="17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DC7F"/>
        </a:solidFill>
      </p:bgPr>
    </p:bg>
    <p:spTree>
      <p:nvGrpSpPr>
        <p:cNvPr id="1" name=""/>
        <p:cNvGrpSpPr/>
        <p:nvPr/>
      </p:nvGrpSpPr>
      <p:grpSpPr>
        <a:xfrm>
          <a:off x="0" y="0"/>
          <a:ext cx="0" cy="0"/>
          <a:chOff x="0" y="0"/>
          <a:chExt cx="0" cy="0"/>
        </a:xfrm>
      </p:grpSpPr>
      <p:sp>
        <p:nvSpPr>
          <p:cNvPr id="2" name="Shape 0"/>
          <p:cNvSpPr/>
          <p:nvPr/>
        </p:nvSpPr>
        <p:spPr>
          <a:xfrm>
            <a:off x="0" y="0"/>
            <a:ext cx="3171825" cy="5143500"/>
          </a:xfrm>
          <a:prstGeom prst="rect">
            <a:avLst/>
          </a:prstGeom>
          <a:solidFill>
            <a:srgbClr val="BC2062"/>
          </a:solidFill>
          <a:ln/>
        </p:spPr>
      </p:sp>
      <p:sp>
        <p:nvSpPr>
          <p:cNvPr id="3" name="Text 1"/>
          <p:cNvSpPr/>
          <p:nvPr/>
        </p:nvSpPr>
        <p:spPr>
          <a:xfrm>
            <a:off x="419100" y="647700"/>
            <a:ext cx="2333625" cy="495300"/>
          </a:xfrm>
          <a:prstGeom prst="rect">
            <a:avLst/>
          </a:prstGeom>
          <a:noFill/>
          <a:ln/>
        </p:spPr>
        <p:txBody>
          <a:bodyPr wrap="square" lIns="0" tIns="0" rIns="0" bIns="0" rtlCol="0" anchor="ctr"/>
          <a:lstStyle/>
          <a:p>
            <a:pPr algn="l" indent="0" marL="0">
              <a:lnSpc>
                <a:spcPts val="3694"/>
              </a:lnSpc>
              <a:buNone/>
            </a:pPr>
            <a:r>
              <a:rPr lang="en-US" sz="3420" spc="-103" kern="0" dirty="0">
                <a:solidFill>
                  <a:srgbClr val="FFD054">
                    <a:alpha val="99000"/>
                  </a:srgbClr>
                </a:solidFill>
                <a:latin typeface="Georgia" pitchFamily="34" charset="0"/>
                <a:ea typeface="Georgia" pitchFamily="34" charset="-122"/>
                <a:cs typeface="Georgia" pitchFamily="34" charset="-120"/>
              </a:rPr>
              <a:t>KPI’s</a:t>
            </a:r>
            <a:endParaRPr lang="en-US" sz="3420" dirty="0"/>
          </a:p>
        </p:txBody>
      </p:sp>
      <p:sp>
        <p:nvSpPr>
          <p:cNvPr id="4" name="Text 2"/>
          <p:cNvSpPr/>
          <p:nvPr/>
        </p:nvSpPr>
        <p:spPr>
          <a:xfrm>
            <a:off x="3476625" y="1671638"/>
            <a:ext cx="5272088" cy="2000250"/>
          </a:xfrm>
          <a:prstGeom prst="rect">
            <a:avLst/>
          </a:prstGeom>
          <a:noFill/>
          <a:ln/>
        </p:spPr>
        <p:txBody>
          <a:bodyPr wrap="square" lIns="0" tIns="0" rIns="0" bIns="0" rtlCol="0" anchor="ctr"/>
          <a:lstStyle/>
          <a:p>
            <a:pPr algn="l" marL="342900" indent="-342900">
              <a:lnSpc>
                <a:spcPts val="1482"/>
              </a:lnSpc>
              <a:buSzPct val="100000"/>
              <a:buChar char="•"/>
            </a:pPr>
            <a:r>
              <a:rPr lang="en-US" sz="1140" b="1" spc="-11" kern="0" dirty="0">
                <a:solidFill>
                  <a:srgbClr val="111111">
                    <a:alpha val="99000"/>
                  </a:srgbClr>
                </a:solidFill>
                <a:latin typeface="Roboto" pitchFamily="34" charset="0"/>
                <a:ea typeface="Roboto" pitchFamily="34" charset="-122"/>
                <a:cs typeface="Roboto" pitchFamily="34" charset="-120"/>
              </a:rPr>
              <a:t>Volunteer Retention Rate</a:t>
            </a:r>
            <a:pPr algn="l" indent="0" marL="0">
              <a:lnSpc>
                <a:spcPts val="1482"/>
              </a:lnSpc>
              <a:buNone/>
            </a:pPr>
            <a:r>
              <a:rPr lang="en-US" sz="1140" spc="-11" kern="0" dirty="0">
                <a:solidFill>
                  <a:srgbClr val="111111">
                    <a:alpha val="99000"/>
                  </a:srgbClr>
                </a:solidFill>
                <a:latin typeface="Roboto" pitchFamily="34" charset="0"/>
                <a:ea typeface="Roboto" pitchFamily="34" charset="-122"/>
                <a:cs typeface="Roboto" pitchFamily="34" charset="-120"/>
              </a:rPr>
              <a:t> – % of returning Volunteers.</a:t>
            </a:r>
            <a:endParaRPr lang="en-US" sz="1140" dirty="0"/>
          </a:p>
          <a:p>
            <a:pPr algn="l" marL="342900" indent="-342900">
              <a:lnSpc>
                <a:spcPts val="1482"/>
              </a:lnSpc>
              <a:buSzPct val="100000"/>
              <a:buChar char="•"/>
            </a:pPr>
            <a:r>
              <a:rPr lang="en-US" sz="1140" b="1" spc="-11" kern="0" dirty="0">
                <a:solidFill>
                  <a:srgbClr val="111111">
                    <a:alpha val="99000"/>
                  </a:srgbClr>
                </a:solidFill>
                <a:latin typeface="Roboto" pitchFamily="34" charset="0"/>
                <a:ea typeface="Roboto" pitchFamily="34" charset="-122"/>
                <a:cs typeface="Roboto" pitchFamily="34" charset="-120"/>
              </a:rPr>
              <a:t>Pages per Session-</a:t>
            </a:r>
            <a:pPr algn="l" indent="0" marL="0">
              <a:lnSpc>
                <a:spcPts val="1482"/>
              </a:lnSpc>
              <a:buNone/>
            </a:pPr>
            <a:r>
              <a:rPr lang="en-US" sz="1140" spc="-11" kern="0" dirty="0">
                <a:solidFill>
                  <a:srgbClr val="111111">
                    <a:alpha val="99000"/>
                  </a:srgbClr>
                </a:solidFill>
                <a:latin typeface="Roboto" pitchFamily="34" charset="0"/>
                <a:ea typeface="Roboto" pitchFamily="34" charset="-122"/>
                <a:cs typeface="Roboto" pitchFamily="34" charset="-120"/>
              </a:rPr>
              <a:t> Number of pages visited per session to show depth of engagement.</a:t>
            </a:r>
            <a:endParaRPr lang="en-US" sz="1140" dirty="0"/>
          </a:p>
          <a:p>
            <a:pPr algn="l" marL="342900" indent="-342900">
              <a:lnSpc>
                <a:spcPts val="1482"/>
              </a:lnSpc>
              <a:buSzPct val="100000"/>
              <a:buChar char="•"/>
            </a:pPr>
            <a:r>
              <a:rPr lang="en-US" sz="1140" b="1" spc="-11" kern="0" dirty="0">
                <a:solidFill>
                  <a:srgbClr val="111111">
                    <a:alpha val="99000"/>
                  </a:srgbClr>
                </a:solidFill>
                <a:latin typeface="Roboto" pitchFamily="34" charset="0"/>
                <a:ea typeface="Roboto" pitchFamily="34" charset="-122"/>
                <a:cs typeface="Roboto" pitchFamily="34" charset="-120"/>
              </a:rPr>
              <a:t>Volunteer Sign-Ups- </a:t>
            </a:r>
            <a:pPr algn="l" indent="0" marL="0">
              <a:lnSpc>
                <a:spcPts val="1482"/>
              </a:lnSpc>
              <a:buNone/>
            </a:pPr>
            <a:r>
              <a:rPr lang="en-US" sz="1140" spc="-11" kern="0" dirty="0">
                <a:solidFill>
                  <a:srgbClr val="111111">
                    <a:alpha val="99000"/>
                  </a:srgbClr>
                </a:solidFill>
                <a:latin typeface="Roboto" pitchFamily="34" charset="0"/>
                <a:ea typeface="Roboto" pitchFamily="34" charset="-122"/>
                <a:cs typeface="Roboto" pitchFamily="34" charset="-120"/>
              </a:rPr>
              <a:t>The number of new volunteers joining new programs or signing up for events.</a:t>
            </a:r>
            <a:endParaRPr lang="en-US" sz="1140" dirty="0"/>
          </a:p>
          <a:p>
            <a:pPr algn="l" marL="342900" indent="-342900">
              <a:lnSpc>
                <a:spcPts val="1482"/>
              </a:lnSpc>
              <a:buSzPct val="100000"/>
              <a:buChar char="•"/>
            </a:pPr>
            <a:r>
              <a:rPr lang="en-US" sz="1140" b="1" spc="-11" kern="0" dirty="0">
                <a:solidFill>
                  <a:srgbClr val="111111">
                    <a:alpha val="99000"/>
                  </a:srgbClr>
                </a:solidFill>
                <a:latin typeface="Roboto" pitchFamily="34" charset="0"/>
                <a:ea typeface="Roboto" pitchFamily="34" charset="-122"/>
                <a:cs typeface="Roboto" pitchFamily="34" charset="-120"/>
              </a:rPr>
              <a:t>Engagement Rate- </a:t>
            </a:r>
            <a:pPr algn="l" indent="0" marL="0">
              <a:lnSpc>
                <a:spcPts val="1482"/>
              </a:lnSpc>
              <a:buNone/>
            </a:pPr>
            <a:r>
              <a:rPr lang="en-US" sz="1140" spc="-11" kern="0" dirty="0">
                <a:solidFill>
                  <a:srgbClr val="111111">
                    <a:alpha val="99000"/>
                  </a:srgbClr>
                </a:solidFill>
                <a:latin typeface="Roboto" pitchFamily="34" charset="0"/>
                <a:ea typeface="Roboto" pitchFamily="34" charset="-122"/>
                <a:cs typeface="Roboto" pitchFamily="34" charset="-120"/>
              </a:rPr>
              <a:t>Number of likes, comments, shares in comparison to followers.</a:t>
            </a:r>
            <a:endParaRPr lang="en-US" sz="11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47638" y="1071563"/>
            <a:ext cx="8705850" cy="280988"/>
          </a:xfrm>
          <a:prstGeom prst="rect">
            <a:avLst/>
          </a:prstGeom>
          <a:solidFill>
            <a:srgbClr val="BC2062"/>
          </a:solidFill>
          <a:ln/>
        </p:spPr>
        <p:txBody>
          <a:bodyPr wrap="square" rtlCol="0" anchor="ctr"/>
          <a:lstStyle/>
          <a:p>
            <a:pPr indent="0" marL="0">
              <a:buNone/>
            </a:pPr>
            <a:r>
              <a:rPr lang="en-US" dirty="0">
                <a:solidFill>
                  <a:srgbClr val="000000"/>
                </a:solidFill>
              </a:rPr>
              <a:t>  Product                          Price                         Place                Promotion                 People                     Process             Physical Evidence</a:t>
            </a:r>
            <a:endParaRPr lang="en-US" dirty="0"/>
          </a:p>
        </p:txBody>
      </p:sp>
      <p:sp>
        <p:nvSpPr>
          <p:cNvPr id="3" name="Text 1"/>
          <p:cNvSpPr/>
          <p:nvPr/>
        </p:nvSpPr>
        <p:spPr>
          <a:xfrm>
            <a:off x="3400425" y="333375"/>
            <a:ext cx="1824038" cy="342900"/>
          </a:xfrm>
          <a:prstGeom prst="rect">
            <a:avLst/>
          </a:prstGeom>
          <a:noFill/>
          <a:ln/>
        </p:spPr>
        <p:txBody>
          <a:bodyPr wrap="square" lIns="0" tIns="0" rIns="0" bIns="0" rtlCol="0" anchor="ctr"/>
          <a:lstStyle/>
          <a:p>
            <a:pPr algn="ctr" indent="0" marL="0">
              <a:lnSpc>
                <a:spcPts val="2554"/>
              </a:lnSpc>
              <a:buNone/>
            </a:pPr>
            <a:r>
              <a:rPr lang="en-US" sz="2280" spc="-46" kern="0" dirty="0">
                <a:solidFill>
                  <a:srgbClr val="BC2062">
                    <a:alpha val="99000"/>
                  </a:srgbClr>
                </a:solidFill>
                <a:latin typeface="Georgia" pitchFamily="34" charset="0"/>
                <a:ea typeface="Georgia" pitchFamily="34" charset="-122"/>
                <a:cs typeface="Georgia" pitchFamily="34" charset="-120"/>
              </a:rPr>
              <a:t>7P’s</a:t>
            </a:r>
            <a:endParaRPr lang="en-US" sz="2280" dirty="0"/>
          </a:p>
        </p:txBody>
      </p:sp>
      <p:sp>
        <p:nvSpPr>
          <p:cNvPr id="4" name="Text 2"/>
          <p:cNvSpPr/>
          <p:nvPr/>
        </p:nvSpPr>
        <p:spPr>
          <a:xfrm>
            <a:off x="147638" y="1566863"/>
            <a:ext cx="1152525" cy="2009775"/>
          </a:xfrm>
          <a:prstGeom prst="rect">
            <a:avLst/>
          </a:prstGeom>
          <a:solidFill>
            <a:srgbClr val="4034B0"/>
          </a:solidFill>
          <a:ln/>
        </p:spPr>
        <p:txBody>
          <a:bodyPr wrap="square" rtlCol="0" anchor="ctr"/>
          <a:lstStyle/>
          <a:p>
            <a:pPr indent="0" marL="0">
              <a:buNone/>
            </a:pPr>
            <a:r>
              <a:rPr lang="en-US" dirty="0">
                <a:solidFill>
                  <a:srgbClr val="000000"/>
                </a:solidFill>
              </a:rPr>
              <a:t>Housing, Meals, Counseling, Eduaction Programs, 200  organizations</a:t>
            </a:r>
            <a:endParaRPr lang="en-US" dirty="0"/>
          </a:p>
        </p:txBody>
      </p:sp>
      <p:sp>
        <p:nvSpPr>
          <p:cNvPr id="5" name="Text 3"/>
          <p:cNvSpPr/>
          <p:nvPr/>
        </p:nvSpPr>
        <p:spPr>
          <a:xfrm>
            <a:off x="1433513" y="1566863"/>
            <a:ext cx="1071563" cy="2009775"/>
          </a:xfrm>
          <a:prstGeom prst="rect">
            <a:avLst/>
          </a:prstGeom>
          <a:solidFill>
            <a:srgbClr val="4034B0"/>
          </a:solidFill>
          <a:ln/>
        </p:spPr>
        <p:txBody>
          <a:bodyPr wrap="square" rtlCol="0" anchor="ctr"/>
          <a:lstStyle/>
          <a:p>
            <a:pPr indent="0" marL="0">
              <a:buNone/>
            </a:pPr>
            <a:r>
              <a:rPr lang="en-US" dirty="0">
                <a:solidFill>
                  <a:srgbClr val="000000"/>
                </a:solidFill>
              </a:rPr>
              <a:t>Non-profit, Donations, Volunteers, Mercy schools fund as well</a:t>
            </a:r>
            <a:endParaRPr lang="en-US" dirty="0"/>
          </a:p>
        </p:txBody>
      </p:sp>
      <p:sp>
        <p:nvSpPr>
          <p:cNvPr id="6" name="Text 4"/>
          <p:cNvSpPr/>
          <p:nvPr/>
        </p:nvSpPr>
        <p:spPr>
          <a:xfrm>
            <a:off x="2638425" y="1566863"/>
            <a:ext cx="1023938" cy="2009775"/>
          </a:xfrm>
          <a:prstGeom prst="rect">
            <a:avLst/>
          </a:prstGeom>
          <a:solidFill>
            <a:srgbClr val="4034B0"/>
          </a:solidFill>
          <a:ln/>
        </p:spPr>
        <p:txBody>
          <a:bodyPr wrap="square" rtlCol="0" anchor="ctr"/>
          <a:lstStyle/>
          <a:p>
            <a:pPr indent="0" marL="0">
              <a:buNone/>
            </a:pPr>
            <a:r>
              <a:rPr lang="en-US" dirty="0">
                <a:solidFill>
                  <a:srgbClr val="000000"/>
                </a:solidFill>
              </a:rPr>
              <a:t>Mercy Centers, Hospitals, Schools, Retreat Facilities, locations around the world</a:t>
            </a:r>
            <a:endParaRPr lang="en-US" dirty="0"/>
          </a:p>
        </p:txBody>
      </p:sp>
      <p:sp>
        <p:nvSpPr>
          <p:cNvPr id="7" name="Text 5"/>
          <p:cNvSpPr/>
          <p:nvPr/>
        </p:nvSpPr>
        <p:spPr>
          <a:xfrm>
            <a:off x="3795713" y="1566863"/>
            <a:ext cx="957263" cy="2009775"/>
          </a:xfrm>
          <a:prstGeom prst="rect">
            <a:avLst/>
          </a:prstGeom>
          <a:solidFill>
            <a:srgbClr val="4034B0"/>
          </a:solidFill>
          <a:ln/>
        </p:spPr>
        <p:txBody>
          <a:bodyPr wrap="square" rtlCol="0" anchor="ctr"/>
          <a:lstStyle/>
          <a:p>
            <a:pPr indent="0" marL="0">
              <a:buNone/>
            </a:pPr>
            <a:r>
              <a:rPr lang="en-US" dirty="0">
                <a:solidFill>
                  <a:srgbClr val="000000"/>
                </a:solidFill>
              </a:rPr>
              <a:t>Social media, newsletters, emails, events</a:t>
            </a:r>
            <a:endParaRPr lang="en-US" dirty="0"/>
          </a:p>
        </p:txBody>
      </p:sp>
      <p:sp>
        <p:nvSpPr>
          <p:cNvPr id="8" name="Text 6"/>
          <p:cNvSpPr/>
          <p:nvPr/>
        </p:nvSpPr>
        <p:spPr>
          <a:xfrm>
            <a:off x="4886325" y="1566863"/>
            <a:ext cx="1200150" cy="2009775"/>
          </a:xfrm>
          <a:prstGeom prst="rect">
            <a:avLst/>
          </a:prstGeom>
          <a:solidFill>
            <a:srgbClr val="4034B0"/>
          </a:solidFill>
          <a:ln/>
        </p:spPr>
        <p:txBody>
          <a:bodyPr wrap="square" rtlCol="0" anchor="ctr"/>
          <a:lstStyle/>
          <a:p>
            <a:pPr indent="0" marL="0">
              <a:buNone/>
            </a:pPr>
            <a:r>
              <a:rPr lang="en-US" dirty="0">
                <a:solidFill>
                  <a:srgbClr val="000000"/>
                </a:solidFill>
              </a:rPr>
              <a:t>Staff: Sisters, Social Workers, educators</a:t>
            </a:r>
            <a:endParaRPr lang="en-US" dirty="0"/>
          </a:p>
          <a:p>
            <a:pPr indent="0" marL="0">
              <a:buNone/>
            </a:pPr>
            <a:r>
              <a:rPr lang="en-US" dirty="0">
                <a:solidFill>
                  <a:srgbClr val="000000"/>
                </a:solidFill>
              </a:rPr>
              <a:t>Volunteers: students of mercy schools, alumni, </a:t>
            </a:r>
            <a:endParaRPr lang="en-US" dirty="0"/>
          </a:p>
          <a:p>
            <a:pPr indent="0" marL="0">
              <a:buNone/>
            </a:pPr>
            <a:r>
              <a:rPr lang="en-US" dirty="0">
                <a:solidFill>
                  <a:srgbClr val="000000"/>
                </a:solidFill>
              </a:rPr>
              <a:t>Donors</a:t>
            </a:r>
            <a:endParaRPr lang="en-US" dirty="0"/>
          </a:p>
        </p:txBody>
      </p:sp>
      <p:sp>
        <p:nvSpPr>
          <p:cNvPr id="9" name="Text 7"/>
          <p:cNvSpPr/>
          <p:nvPr/>
        </p:nvSpPr>
        <p:spPr>
          <a:xfrm>
            <a:off x="6219825" y="1566863"/>
            <a:ext cx="957263" cy="2009775"/>
          </a:xfrm>
          <a:prstGeom prst="rect">
            <a:avLst/>
          </a:prstGeom>
          <a:solidFill>
            <a:srgbClr val="4034B0"/>
          </a:solidFill>
          <a:ln/>
        </p:spPr>
        <p:txBody>
          <a:bodyPr wrap="square" rtlCol="0" anchor="ctr"/>
          <a:lstStyle/>
          <a:p>
            <a:pPr indent="0" marL="0">
              <a:buNone/>
            </a:pPr>
            <a:r>
              <a:rPr lang="en-US" dirty="0">
                <a:solidFill>
                  <a:srgbClr val="000000"/>
                </a:solidFill>
              </a:rPr>
              <a:t>Learn through social media, “Our work” tab, look into values</a:t>
            </a:r>
            <a:endParaRPr lang="en-US" dirty="0"/>
          </a:p>
        </p:txBody>
      </p:sp>
      <p:sp>
        <p:nvSpPr>
          <p:cNvPr id="10" name="Text 8"/>
          <p:cNvSpPr/>
          <p:nvPr/>
        </p:nvSpPr>
        <p:spPr>
          <a:xfrm>
            <a:off x="7310438" y="1566863"/>
            <a:ext cx="1266825" cy="2009775"/>
          </a:xfrm>
          <a:prstGeom prst="rect">
            <a:avLst/>
          </a:prstGeom>
          <a:solidFill>
            <a:srgbClr val="4034B0"/>
          </a:solidFill>
          <a:ln/>
        </p:spPr>
        <p:txBody>
          <a:bodyPr wrap="square" rtlCol="0" anchor="ctr"/>
          <a:lstStyle/>
          <a:p>
            <a:pPr indent="0" marL="0">
              <a:buNone/>
            </a:pPr>
            <a:r>
              <a:rPr lang="en-US" dirty="0">
                <a:solidFill>
                  <a:srgbClr val="000000"/>
                </a:solidFill>
              </a:rPr>
              <a:t>Stories online, Mercy archives (past stories), digital presence for sign-ups and donations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DC7F"/>
        </a:solidFill>
      </p:bgPr>
    </p:bg>
    <p:spTree>
      <p:nvGrpSpPr>
        <p:cNvPr id="1" name=""/>
        <p:cNvGrpSpPr/>
        <p:nvPr/>
      </p:nvGrpSpPr>
      <p:grpSpPr>
        <a:xfrm>
          <a:off x="0" y="0"/>
          <a:ext cx="0" cy="0"/>
          <a:chOff x="0" y="0"/>
          <a:chExt cx="0" cy="0"/>
        </a:xfrm>
      </p:grpSpPr>
      <p:sp>
        <p:nvSpPr>
          <p:cNvPr id="2" name="Text 0"/>
          <p:cNvSpPr/>
          <p:nvPr/>
        </p:nvSpPr>
        <p:spPr>
          <a:xfrm>
            <a:off x="376238" y="609600"/>
            <a:ext cx="5386388" cy="495300"/>
          </a:xfrm>
          <a:prstGeom prst="rect">
            <a:avLst/>
          </a:prstGeom>
          <a:noFill/>
          <a:ln/>
        </p:spPr>
        <p:txBody>
          <a:bodyPr wrap="square" lIns="0" tIns="0" rIns="0" bIns="0" rtlCol="0" anchor="ctr"/>
          <a:lstStyle/>
          <a:p>
            <a:pPr algn="l" indent="0" marL="0">
              <a:lnSpc>
                <a:spcPts val="3694"/>
              </a:lnSpc>
              <a:buNone/>
            </a:pPr>
            <a:r>
              <a:rPr lang="en-US" sz="3420" spc="-103" kern="0" dirty="0">
                <a:solidFill>
                  <a:srgbClr val="BC2062">
                    <a:alpha val="99000"/>
                  </a:srgbClr>
                </a:solidFill>
                <a:latin typeface="Georgia" pitchFamily="34" charset="0"/>
                <a:ea typeface="Georgia" pitchFamily="34" charset="-122"/>
                <a:cs typeface="Georgia" pitchFamily="34" charset="-120"/>
              </a:rPr>
              <a:t>SWOT Analysis  </a:t>
            </a:r>
            <a:endParaRPr lang="en-US" sz="3420" dirty="0"/>
          </a:p>
        </p:txBody>
      </p:sp>
      <p:sp>
        <p:nvSpPr>
          <p:cNvPr id="3" name="Text 1"/>
          <p:cNvSpPr/>
          <p:nvPr/>
        </p:nvSpPr>
        <p:spPr>
          <a:xfrm>
            <a:off x="376238" y="1366838"/>
            <a:ext cx="2119313" cy="1443038"/>
          </a:xfrm>
          <a:prstGeom prst="rect">
            <a:avLst/>
          </a:prstGeom>
          <a:solidFill>
            <a:srgbClr val="BC2062"/>
          </a:solidFill>
          <a:ln/>
        </p:spPr>
        <p:txBody>
          <a:bodyPr wrap="square" rtlCol="0" anchor="ctr"/>
          <a:lstStyle/>
          <a:p>
            <a:pPr indent="0" marL="0">
              <a:buNone/>
            </a:pPr>
            <a:r>
              <a:rPr lang="en-US" dirty="0">
                <a:solidFill>
                  <a:srgbClr val="000000"/>
                </a:solidFill>
              </a:rPr>
              <a:t>Strengths: Clear mission, trusted reputation, Integrated Educational Outreach</a:t>
            </a:r>
            <a:endParaRPr lang="en-US" dirty="0"/>
          </a:p>
        </p:txBody>
      </p:sp>
      <p:sp>
        <p:nvSpPr>
          <p:cNvPr id="4" name="Text 2"/>
          <p:cNvSpPr/>
          <p:nvPr/>
        </p:nvSpPr>
        <p:spPr>
          <a:xfrm>
            <a:off x="2495550" y="2085975"/>
            <a:ext cx="2119313" cy="1443038"/>
          </a:xfrm>
          <a:prstGeom prst="rect">
            <a:avLst/>
          </a:prstGeom>
          <a:solidFill>
            <a:srgbClr val="BC2062"/>
          </a:solidFill>
          <a:ln/>
        </p:spPr>
        <p:txBody>
          <a:bodyPr wrap="square" rtlCol="0" anchor="ctr"/>
          <a:lstStyle/>
          <a:p>
            <a:pPr indent="0" marL="0">
              <a:buNone/>
            </a:pPr>
            <a:r>
              <a:rPr lang="en-US" dirty="0">
                <a:solidFill>
                  <a:srgbClr val="000000"/>
                </a:solidFill>
              </a:rPr>
              <a:t>Weaknesses: Outdated Design, Lack of Visual Hierarchy, Inconsistent Posting, </a:t>
            </a:r>
            <a:endParaRPr lang="en-US" dirty="0"/>
          </a:p>
        </p:txBody>
      </p:sp>
      <p:sp>
        <p:nvSpPr>
          <p:cNvPr id="5" name="Text 3"/>
          <p:cNvSpPr/>
          <p:nvPr/>
        </p:nvSpPr>
        <p:spPr>
          <a:xfrm>
            <a:off x="4614863" y="2757488"/>
            <a:ext cx="2119313" cy="1443038"/>
          </a:xfrm>
          <a:prstGeom prst="rect">
            <a:avLst/>
          </a:prstGeom>
          <a:solidFill>
            <a:srgbClr val="BC2062"/>
          </a:solidFill>
          <a:ln/>
        </p:spPr>
        <p:txBody>
          <a:bodyPr wrap="square" rtlCol="0" anchor="ctr"/>
          <a:lstStyle/>
          <a:p>
            <a:pPr indent="0" marL="0">
              <a:buNone/>
            </a:pPr>
            <a:r>
              <a:rPr lang="en-US" dirty="0">
                <a:solidFill>
                  <a:srgbClr val="000000"/>
                </a:solidFill>
              </a:rPr>
              <a:t>Opportunities: Public awareness, Advocacy influencers on social media, donation journeys</a:t>
            </a:r>
            <a:endParaRPr lang="en-US" dirty="0"/>
          </a:p>
        </p:txBody>
      </p:sp>
      <p:sp>
        <p:nvSpPr>
          <p:cNvPr id="6" name="Text 4"/>
          <p:cNvSpPr/>
          <p:nvPr/>
        </p:nvSpPr>
        <p:spPr>
          <a:xfrm>
            <a:off x="6734175" y="3543300"/>
            <a:ext cx="2119313" cy="1443038"/>
          </a:xfrm>
          <a:prstGeom prst="rect">
            <a:avLst/>
          </a:prstGeom>
          <a:solidFill>
            <a:srgbClr val="BC2062"/>
          </a:solidFill>
          <a:ln/>
        </p:spPr>
        <p:txBody>
          <a:bodyPr wrap="square" rtlCol="0" anchor="ctr"/>
          <a:lstStyle/>
          <a:p>
            <a:pPr indent="0" marL="0">
              <a:buNone/>
            </a:pPr>
            <a:r>
              <a:rPr lang="en-US" dirty="0">
                <a:solidFill>
                  <a:srgbClr val="000000"/>
                </a:solidFill>
              </a:rPr>
              <a:t>Threats: Changing User Behaviors, other non profit organizations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C2062"/>
        </a:solidFill>
      </p:bgPr>
    </p:bg>
    <p:spTree>
      <p:nvGrpSpPr>
        <p:cNvPr id="1" name=""/>
        <p:cNvGrpSpPr/>
        <p:nvPr/>
      </p:nvGrpSpPr>
      <p:grpSpPr>
        <a:xfrm>
          <a:off x="0" y="0"/>
          <a:ext cx="0" cy="0"/>
          <a:chOff x="0" y="0"/>
          <a:chExt cx="0" cy="0"/>
        </a:xfrm>
      </p:grpSpPr>
      <p:sp>
        <p:nvSpPr>
          <p:cNvPr id="2" name="Text 0"/>
          <p:cNvSpPr/>
          <p:nvPr/>
        </p:nvSpPr>
        <p:spPr>
          <a:xfrm>
            <a:off x="1171575" y="609600"/>
            <a:ext cx="6800850" cy="657225"/>
          </a:xfrm>
          <a:prstGeom prst="rect">
            <a:avLst/>
          </a:prstGeom>
          <a:noFill/>
          <a:ln/>
        </p:spPr>
        <p:txBody>
          <a:bodyPr wrap="square" lIns="0" tIns="0" rIns="0" bIns="0" rtlCol="0" anchor="ctr"/>
          <a:lstStyle/>
          <a:p>
            <a:pPr algn="l" indent="0" marL="0">
              <a:lnSpc>
                <a:spcPts val="4925"/>
              </a:lnSpc>
              <a:buNone/>
            </a:pPr>
            <a:r>
              <a:rPr lang="en-US" sz="4560" spc="-137" kern="0" dirty="0">
                <a:solidFill>
                  <a:srgbClr val="FFFFFF">
                    <a:alpha val="99000"/>
                  </a:srgbClr>
                </a:solidFill>
                <a:latin typeface="Georgia" pitchFamily="34" charset="0"/>
                <a:ea typeface="Georgia" pitchFamily="34" charset="-122"/>
                <a:cs typeface="Georgia" pitchFamily="34" charset="-120"/>
              </a:rPr>
              <a:t>User Interviews Summary</a:t>
            </a:r>
            <a:endParaRPr lang="en-US" sz="4560" dirty="0"/>
          </a:p>
        </p:txBody>
      </p:sp>
      <p:sp>
        <p:nvSpPr>
          <p:cNvPr id="3" name="Text 1"/>
          <p:cNvSpPr/>
          <p:nvPr/>
        </p:nvSpPr>
        <p:spPr>
          <a:xfrm>
            <a:off x="857250" y="1914525"/>
            <a:ext cx="728663"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Grace  </a:t>
            </a:r>
            <a:endParaRPr lang="en-US" sz="1140" dirty="0"/>
          </a:p>
        </p:txBody>
      </p:sp>
      <p:sp>
        <p:nvSpPr>
          <p:cNvPr id="4" name="Text 2"/>
          <p:cNvSpPr/>
          <p:nvPr/>
        </p:nvSpPr>
        <p:spPr>
          <a:xfrm>
            <a:off x="4929188" y="1847850"/>
            <a:ext cx="66675" cy="200025"/>
          </a:xfrm>
          <a:prstGeom prst="rect">
            <a:avLst/>
          </a:prstGeom>
          <a:noFill/>
          <a:ln/>
        </p:spPr>
        <p:txBody>
          <a:bodyPr wrap="square" lIns="0" tIns="0" rIns="0" bIns="0" rtlCol="0" anchor="ctr"/>
          <a:lstStyle/>
          <a:p>
            <a:pPr indent="0" marL="0">
              <a:buNone/>
            </a:pPr>
            <a:endParaRPr lang="en-US" dirty="0"/>
          </a:p>
        </p:txBody>
      </p:sp>
      <p:sp>
        <p:nvSpPr>
          <p:cNvPr id="5" name="Text 3"/>
          <p:cNvSpPr/>
          <p:nvPr/>
        </p:nvSpPr>
        <p:spPr>
          <a:xfrm>
            <a:off x="4929188" y="1847850"/>
            <a:ext cx="1062038"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Kristine </a:t>
            </a:r>
            <a:endParaRPr lang="en-US" sz="1140" dirty="0"/>
          </a:p>
        </p:txBody>
      </p:sp>
      <p:sp>
        <p:nvSpPr>
          <p:cNvPr id="6" name="Text 4"/>
          <p:cNvSpPr/>
          <p:nvPr/>
        </p:nvSpPr>
        <p:spPr>
          <a:xfrm>
            <a:off x="800100" y="2419350"/>
            <a:ext cx="3095625" cy="1400175"/>
          </a:xfrm>
          <a:prstGeom prst="rect">
            <a:avLst/>
          </a:prstGeom>
          <a:noFill/>
          <a:ln/>
        </p:spPr>
        <p:txBody>
          <a:bodyPr wrap="square" lIns="0" tIns="0" rIns="0" bIns="0" rtlCol="0" anchor="ctr"/>
          <a:lstStyle/>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Grace feels disconnected with The Sisters of Mercy after she graduated </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Her preferred source of content is social media like instagram</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She wishes there was more volunteer work after graduation</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Preffers text updates instead of emails</a:t>
            </a:r>
            <a:endParaRPr lang="en-US" sz="1140" dirty="0"/>
          </a:p>
        </p:txBody>
      </p:sp>
      <p:sp>
        <p:nvSpPr>
          <p:cNvPr id="7" name="Text 5"/>
          <p:cNvSpPr/>
          <p:nvPr/>
        </p:nvSpPr>
        <p:spPr>
          <a:xfrm>
            <a:off x="4733925" y="2366963"/>
            <a:ext cx="2495550" cy="1400175"/>
          </a:xfrm>
          <a:prstGeom prst="rect">
            <a:avLst/>
          </a:prstGeom>
          <a:noFill/>
          <a:ln/>
        </p:spPr>
        <p:txBody>
          <a:bodyPr wrap="square" lIns="0" tIns="0" rIns="0" bIns="0" rtlCol="0" anchor="ctr"/>
          <a:lstStyle/>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Wants more involvement with Mercy School families</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Think there could be some adjustments made to the website</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Prefers emails and texts</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Likes to read story articles</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Donates every so often</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C2062"/>
        </a:solidFill>
      </p:bgPr>
    </p:bg>
    <p:spTree>
      <p:nvGrpSpPr>
        <p:cNvPr id="1" name=""/>
        <p:cNvGrpSpPr/>
        <p:nvPr/>
      </p:nvGrpSpPr>
      <p:grpSpPr>
        <a:xfrm>
          <a:off x="0" y="0"/>
          <a:ext cx="0" cy="0"/>
          <a:chOff x="0" y="0"/>
          <a:chExt cx="0" cy="0"/>
        </a:xfrm>
      </p:grpSpPr>
      <p:sp>
        <p:nvSpPr>
          <p:cNvPr id="2" name="Text 0"/>
          <p:cNvSpPr/>
          <p:nvPr/>
        </p:nvSpPr>
        <p:spPr>
          <a:xfrm>
            <a:off x="1595438" y="609600"/>
            <a:ext cx="5953125" cy="619125"/>
          </a:xfrm>
          <a:prstGeom prst="rect">
            <a:avLst/>
          </a:prstGeom>
          <a:noFill/>
          <a:ln/>
        </p:spPr>
        <p:txBody>
          <a:bodyPr wrap="square" lIns="0" tIns="0" rIns="0" bIns="0" rtlCol="0" anchor="ctr"/>
          <a:lstStyle/>
          <a:p>
            <a:pPr algn="l" indent="0" marL="0">
              <a:lnSpc>
                <a:spcPts val="4617"/>
              </a:lnSpc>
              <a:buNone/>
            </a:pPr>
            <a:r>
              <a:rPr lang="en-US" sz="4275" spc="-128" kern="0" dirty="0">
                <a:solidFill>
                  <a:srgbClr val="FFFFFF">
                    <a:alpha val="99000"/>
                  </a:srgbClr>
                </a:solidFill>
                <a:latin typeface="Georgia" pitchFamily="34" charset="0"/>
                <a:ea typeface="Georgia" pitchFamily="34" charset="-122"/>
                <a:cs typeface="Georgia" pitchFamily="34" charset="-120"/>
              </a:rPr>
              <a:t>User Journey mapping</a:t>
            </a:r>
            <a:endParaRPr lang="en-US" sz="4275" dirty="0"/>
          </a:p>
        </p:txBody>
      </p:sp>
      <p:sp>
        <p:nvSpPr>
          <p:cNvPr id="3" name="Text 1"/>
          <p:cNvSpPr/>
          <p:nvPr/>
        </p:nvSpPr>
        <p:spPr>
          <a:xfrm>
            <a:off x="4991100" y="1590675"/>
            <a:ext cx="4043363" cy="2000250"/>
          </a:xfrm>
          <a:prstGeom prst="rect">
            <a:avLst/>
          </a:prstGeom>
          <a:noFill/>
          <a:ln/>
        </p:spPr>
        <p:txBody>
          <a:bodyPr wrap="square" lIns="0" tIns="0" rIns="0" bIns="0" rtlCol="0" anchor="ctr"/>
          <a:lstStyle/>
          <a:p>
            <a:pPr algn="l" indent="0" marL="0">
              <a:lnSpc>
                <a:spcPts val="1482"/>
              </a:lnSpc>
              <a:buNone/>
            </a:pPr>
            <a:r>
              <a:rPr lang="en-US" sz="1140" b="1" spc="-11" kern="0" dirty="0">
                <a:solidFill>
                  <a:srgbClr val="FFFFFF">
                    <a:alpha val="99000"/>
                  </a:srgbClr>
                </a:solidFill>
                <a:latin typeface="Roboto" pitchFamily="34" charset="0"/>
                <a:ea typeface="Roboto" pitchFamily="34" charset="-122"/>
                <a:cs typeface="Roboto" pitchFamily="34" charset="-120"/>
              </a:rPr>
              <a:t>Experience</a:t>
            </a:r>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 </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Struggled to find where to volunteer because of unclear taps</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Clicked through many tabs until getting to the right section</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Felt frustrated by the time she found the tab</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Once she found the tabs about volunteering she was happier</a:t>
            </a:r>
            <a:endParaRPr lang="en-US" sz="1140" dirty="0"/>
          </a:p>
        </p:txBody>
      </p:sp>
      <p:sp>
        <p:nvSpPr>
          <p:cNvPr id="4" name="Text 2"/>
          <p:cNvSpPr/>
          <p:nvPr/>
        </p:nvSpPr>
        <p:spPr>
          <a:xfrm>
            <a:off x="190500" y="1971675"/>
            <a:ext cx="3386138" cy="771525"/>
          </a:xfrm>
          <a:prstGeom prst="rect">
            <a:avLst/>
          </a:prstGeom>
          <a:noFill/>
          <a:ln/>
        </p:spPr>
        <p:txBody>
          <a:bodyPr wrap="square" lIns="0" tIns="0" rIns="0" bIns="0" rtlCol="0" anchor="ctr"/>
          <a:lstStyle/>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Easier Volunteer sign up process</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Be able to do one time volunteering</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More engaged donating process</a:t>
            </a:r>
            <a:endParaRPr lang="en-US" sz="1283" dirty="0"/>
          </a:p>
        </p:txBody>
      </p:sp>
      <p:sp>
        <p:nvSpPr>
          <p:cNvPr id="5" name="Text 3"/>
          <p:cNvSpPr/>
          <p:nvPr/>
        </p:nvSpPr>
        <p:spPr>
          <a:xfrm>
            <a:off x="190500" y="1647825"/>
            <a:ext cx="5029200" cy="285750"/>
          </a:xfrm>
          <a:prstGeom prst="rect">
            <a:avLst/>
          </a:prstGeom>
          <a:noFill/>
          <a:ln/>
        </p:spPr>
        <p:txBody>
          <a:bodyPr wrap="square" lIns="0" tIns="0" rIns="0" bIns="0" rtlCol="0" anchor="ctr"/>
          <a:lstStyle/>
          <a:p>
            <a:pPr algn="l" indent="0" marL="0">
              <a:lnSpc>
                <a:spcPts val="2138"/>
              </a:lnSpc>
              <a:buNone/>
            </a:pPr>
            <a:r>
              <a:rPr lang="en-US" sz="1425" b="1" spc="-31" kern="0" dirty="0">
                <a:solidFill>
                  <a:srgbClr val="FFFFFF">
                    <a:alpha val="99000"/>
                  </a:srgbClr>
                </a:solidFill>
                <a:latin typeface="Inter" pitchFamily="34" charset="0"/>
                <a:ea typeface="Inter" pitchFamily="34" charset="-122"/>
                <a:cs typeface="Inter" pitchFamily="34" charset="-120"/>
              </a:rPr>
              <a:t>User Goals</a:t>
            </a:r>
            <a:endParaRPr lang="en-US" sz="1425" dirty="0"/>
          </a:p>
        </p:txBody>
      </p:sp>
      <p:sp>
        <p:nvSpPr>
          <p:cNvPr id="6" name="Text 4"/>
          <p:cNvSpPr/>
          <p:nvPr/>
        </p:nvSpPr>
        <p:spPr>
          <a:xfrm>
            <a:off x="190500" y="3228975"/>
            <a:ext cx="3724275" cy="1543050"/>
          </a:xfrm>
          <a:prstGeom prst="rect">
            <a:avLst/>
          </a:prstGeom>
          <a:noFill/>
          <a:ln/>
        </p:spPr>
        <p:txBody>
          <a:bodyPr wrap="square" lIns="0" tIns="0" rIns="0" bIns="0" rtlCol="0" anchor="ctr"/>
          <a:lstStyle/>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Easy donation process</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Close volunteering</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Know where to find information on website</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One-time Volunteering</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Clear to read for font size and style</a:t>
            </a:r>
            <a:endParaRPr lang="en-US" sz="1283" dirty="0"/>
          </a:p>
          <a:p>
            <a:pPr algn="l" marL="342900" indent="-342900">
              <a:lnSpc>
                <a:spcPts val="1924"/>
              </a:lnSpc>
              <a:buSzPct val="100000"/>
              <a:buChar char="•"/>
            </a:pPr>
            <a:r>
              <a:rPr lang="en-US" sz="1283" i="1" spc="-28" kern="0" dirty="0">
                <a:solidFill>
                  <a:srgbClr val="FFFFFF">
                    <a:alpha val="99000"/>
                  </a:srgbClr>
                </a:solidFill>
                <a:latin typeface="Inter" pitchFamily="34" charset="0"/>
                <a:ea typeface="Inter" pitchFamily="34" charset="-122"/>
                <a:cs typeface="Inter" pitchFamily="34" charset="-120"/>
              </a:rPr>
              <a:t>Trouble with newer technology</a:t>
            </a:r>
            <a:endParaRPr lang="en-US" sz="1283" dirty="0"/>
          </a:p>
        </p:txBody>
      </p:sp>
      <p:sp>
        <p:nvSpPr>
          <p:cNvPr id="7" name="Text 5"/>
          <p:cNvSpPr/>
          <p:nvPr/>
        </p:nvSpPr>
        <p:spPr>
          <a:xfrm>
            <a:off x="190500" y="2828925"/>
            <a:ext cx="5029200" cy="285750"/>
          </a:xfrm>
          <a:prstGeom prst="rect">
            <a:avLst/>
          </a:prstGeom>
          <a:noFill/>
          <a:ln/>
        </p:spPr>
        <p:txBody>
          <a:bodyPr wrap="square" lIns="0" tIns="0" rIns="0" bIns="0" rtlCol="0" anchor="ctr"/>
          <a:lstStyle/>
          <a:p>
            <a:pPr algn="l" indent="0" marL="0">
              <a:lnSpc>
                <a:spcPts val="2138"/>
              </a:lnSpc>
              <a:buNone/>
            </a:pPr>
            <a:r>
              <a:rPr lang="en-US" sz="1425" b="1" spc="-31" kern="0" dirty="0">
                <a:solidFill>
                  <a:srgbClr val="FFFFFF">
                    <a:alpha val="99000"/>
                  </a:srgbClr>
                </a:solidFill>
                <a:latin typeface="Inter" pitchFamily="34" charset="0"/>
                <a:ea typeface="Inter" pitchFamily="34" charset="-122"/>
                <a:cs typeface="Inter" pitchFamily="34" charset="-120"/>
              </a:rPr>
              <a:t>User Needs</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C2062"/>
        </a:solidFill>
      </p:bgPr>
    </p:bg>
    <p:spTree>
      <p:nvGrpSpPr>
        <p:cNvPr id="1" name=""/>
        <p:cNvGrpSpPr/>
        <p:nvPr/>
      </p:nvGrpSpPr>
      <p:grpSpPr>
        <a:xfrm>
          <a:off x="0" y="0"/>
          <a:ext cx="0" cy="0"/>
          <a:chOff x="0" y="0"/>
          <a:chExt cx="0" cy="0"/>
        </a:xfrm>
      </p:grpSpPr>
      <p:sp>
        <p:nvSpPr>
          <p:cNvPr id="2" name="Text 0"/>
          <p:cNvSpPr/>
          <p:nvPr/>
        </p:nvSpPr>
        <p:spPr>
          <a:xfrm>
            <a:off x="166688" y="609600"/>
            <a:ext cx="6696075" cy="495300"/>
          </a:xfrm>
          <a:prstGeom prst="rect">
            <a:avLst/>
          </a:prstGeom>
          <a:noFill/>
          <a:ln/>
        </p:spPr>
        <p:txBody>
          <a:bodyPr wrap="square" lIns="0" tIns="0" rIns="0" bIns="0" rtlCol="0" anchor="ctr"/>
          <a:lstStyle/>
          <a:p>
            <a:pPr algn="l" indent="0" marL="0">
              <a:lnSpc>
                <a:spcPts val="3694"/>
              </a:lnSpc>
              <a:buNone/>
            </a:pPr>
            <a:r>
              <a:rPr lang="en-US" sz="3420" spc="-103" kern="0" dirty="0">
                <a:solidFill>
                  <a:srgbClr val="FFFFFF">
                    <a:alpha val="99000"/>
                  </a:srgbClr>
                </a:solidFill>
                <a:latin typeface="Georgia" pitchFamily="34" charset="0"/>
                <a:ea typeface="Georgia" pitchFamily="34" charset="-122"/>
                <a:cs typeface="Georgia" pitchFamily="34" charset="-120"/>
              </a:rPr>
              <a:t>Interviews and Surveys</a:t>
            </a:r>
            <a:endParaRPr lang="en-US" sz="3420" dirty="0"/>
          </a:p>
        </p:txBody>
      </p:sp>
      <p:sp>
        <p:nvSpPr>
          <p:cNvPr id="3" name="Text 1"/>
          <p:cNvSpPr/>
          <p:nvPr/>
        </p:nvSpPr>
        <p:spPr>
          <a:xfrm>
            <a:off x="4814888" y="652463"/>
            <a:ext cx="4176712" cy="3943350"/>
          </a:xfrm>
          <a:prstGeom prst="rect">
            <a:avLst/>
          </a:prstGeom>
          <a:noFill/>
          <a:ln/>
        </p:spPr>
        <p:txBody>
          <a:bodyPr wrap="square" lIns="0" tIns="0" rIns="0" bIns="0" rtlCol="0" anchor="ctr"/>
          <a:lstStyle/>
          <a:p>
            <a:pPr algn="l" indent="0" marL="0">
              <a:lnSpc>
                <a:spcPts val="1283"/>
              </a:lnSpc>
              <a:buNone/>
            </a:pPr>
            <a:r>
              <a:rPr lang="en-US" sz="855" spc="-16" kern="0" dirty="0">
                <a:solidFill>
                  <a:srgbClr val="FFFFFF">
                    <a:alpha val="99000"/>
                  </a:srgbClr>
                </a:solidFill>
                <a:latin typeface="Inter" pitchFamily="34" charset="0"/>
                <a:ea typeface="Inter" pitchFamily="34" charset="-122"/>
                <a:cs typeface="Inter" pitchFamily="34" charset="-120"/>
              </a:rPr>
              <a:t>Demographics:</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How old are you?</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What sections of the Website are most important to you?</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If you have any </a:t>
            </a:r>
            <a:pPr algn="l" indent="0" marL="0">
              <a:lnSpc>
                <a:spcPts val="1283"/>
              </a:lnSpc>
              <a:buNone/>
            </a:pPr>
            <a:r>
              <a:rPr lang="en-US" sz="855" b="1" spc="-16" kern="0" dirty="0">
                <a:solidFill>
                  <a:srgbClr val="FFFFFF">
                    <a:alpha val="99000"/>
                  </a:srgbClr>
                </a:solidFill>
                <a:latin typeface="Inter" pitchFamily="34" charset="0"/>
                <a:ea typeface="Inter" pitchFamily="34" charset="-122"/>
                <a:cs typeface="Inter" pitchFamily="34" charset="-120"/>
              </a:rPr>
              <a:t>Accessibility needs</a:t>
            </a:r>
            <a:pPr algn="l" indent="0" marL="0">
              <a:lnSpc>
                <a:spcPts val="1283"/>
              </a:lnSpc>
              <a:buNone/>
            </a:pPr>
            <a:r>
              <a:rPr lang="en-US" sz="855" spc="-16" kern="0" dirty="0">
                <a:solidFill>
                  <a:srgbClr val="FFFFFF">
                    <a:alpha val="99000"/>
                  </a:srgbClr>
                </a:solidFill>
                <a:latin typeface="Inter" pitchFamily="34" charset="0"/>
                <a:ea typeface="Inter" pitchFamily="34" charset="-122"/>
                <a:cs typeface="Inter" pitchFamily="34" charset="-120"/>
              </a:rPr>
              <a:t>, are those needs met? If so what are the </a:t>
            </a:r>
            <a:pPr algn="l" indent="0" marL="0">
              <a:lnSpc>
                <a:spcPts val="1283"/>
              </a:lnSpc>
              <a:buNone/>
            </a:pPr>
            <a:r>
              <a:rPr lang="en-US" sz="855" u="sng" spc="-16" kern="0" dirty="0">
                <a:solidFill>
                  <a:srgbClr val="FFFFFF">
                    <a:alpha val="99000"/>
                  </a:srgbClr>
                </a:solidFill>
                <a:latin typeface="Roboto" pitchFamily="34" charset="0"/>
                <a:ea typeface="Roboto" pitchFamily="34" charset="-122"/>
                <a:cs typeface="Roboto" pitchFamily="34" charset="-120"/>
              </a:rPr>
              <a:t>tools that help you?</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How often do you access the Sisters of Mercy’s website?</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How easy is it to find specific things you are looking for on the website?</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How visually </a:t>
            </a:r>
            <a:pPr algn="l" indent="0" marL="0">
              <a:lnSpc>
                <a:spcPts val="1283"/>
              </a:lnSpc>
              <a:buNone/>
            </a:pPr>
            <a:r>
              <a:rPr lang="en-US" sz="855" b="1" spc="-16" kern="0" dirty="0">
                <a:solidFill>
                  <a:srgbClr val="FFFFFF">
                    <a:alpha val="99000"/>
                  </a:srgbClr>
                </a:solidFill>
                <a:latin typeface="Inter" pitchFamily="34" charset="0"/>
                <a:ea typeface="Inter" pitchFamily="34" charset="-122"/>
                <a:cs typeface="Inter" pitchFamily="34" charset="-120"/>
              </a:rPr>
              <a:t>appealing</a:t>
            </a:r>
            <a:pPr algn="l" indent="0" marL="0">
              <a:lnSpc>
                <a:spcPts val="1283"/>
              </a:lnSpc>
              <a:buNone/>
            </a:pPr>
            <a:r>
              <a:rPr lang="en-US" sz="855" spc="-16" kern="0" dirty="0">
                <a:solidFill>
                  <a:srgbClr val="FFFFFF">
                    <a:alpha val="99000"/>
                  </a:srgbClr>
                </a:solidFill>
                <a:latin typeface="Inter" pitchFamily="34" charset="0"/>
                <a:ea typeface="Inter" pitchFamily="34" charset="-122"/>
                <a:cs typeface="Inter" pitchFamily="34" charset="-120"/>
              </a:rPr>
              <a:t> do you find the website? </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Do you engage with posts, or follow  The Sisters of Mercy on social media</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How do you feel about their social media presence?</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What kind of content do you feel are the most engaging on their social media?</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Are there any problems you run into on the Website or Social Media?</a:t>
            </a:r>
            <a:endParaRPr lang="en-US" sz="855" dirty="0"/>
          </a:p>
          <a:p>
            <a:pPr algn="l" marL="342900" indent="-342900">
              <a:lnSpc>
                <a:spcPts val="1283"/>
              </a:lnSpc>
              <a:buSzPct val="100000"/>
              <a:buChar char="•"/>
            </a:pPr>
            <a:r>
              <a:rPr lang="en-US" sz="855" spc="-16" kern="0" dirty="0">
                <a:solidFill>
                  <a:srgbClr val="FFFFFF">
                    <a:alpha val="99000"/>
                  </a:srgbClr>
                </a:solidFill>
                <a:latin typeface="Inter" pitchFamily="34" charset="0"/>
                <a:ea typeface="Inter" pitchFamily="34" charset="-122"/>
                <a:cs typeface="Inter" pitchFamily="34" charset="-120"/>
              </a:rPr>
              <a:t>Yes( please describe below)</a:t>
            </a:r>
            <a:endParaRPr lang="en-US" sz="855" dirty="0"/>
          </a:p>
          <a:p>
            <a:pPr algn="l" marL="342900" indent="-342900">
              <a:lnSpc>
                <a:spcPts val="1283"/>
              </a:lnSpc>
              <a:buSzPct val="100000"/>
              <a:buChar char="•"/>
            </a:pPr>
            <a:r>
              <a:rPr lang="en-US" sz="855" spc="-16" kern="0" dirty="0">
                <a:solidFill>
                  <a:srgbClr val="FFFFFF">
                    <a:alpha val="99000"/>
                  </a:srgbClr>
                </a:solidFill>
                <a:latin typeface="Inter" pitchFamily="34" charset="0"/>
                <a:ea typeface="Inter" pitchFamily="34" charset="-122"/>
                <a:cs typeface="Inter" pitchFamily="34" charset="-120"/>
              </a:rPr>
              <a:t>No</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If yes, please explain what is hard to use.</a:t>
            </a:r>
            <a:endParaRPr lang="en-US" sz="855" dirty="0"/>
          </a:p>
          <a:p>
            <a:pPr algn="l" marL="342900" indent="-342900">
              <a:lnSpc>
                <a:spcPts val="1283"/>
              </a:lnSpc>
              <a:buSzPct val="100000"/>
              <a:buFont typeface="+mj-lt"/>
              <a:buAutoNum type="arabicPeriod" startAt="1"/>
            </a:pPr>
            <a:r>
              <a:rPr lang="en-US" sz="855" spc="-16" kern="0" dirty="0">
                <a:solidFill>
                  <a:srgbClr val="FFFFFF">
                    <a:alpha val="99000"/>
                  </a:srgbClr>
                </a:solidFill>
                <a:latin typeface="Inter" pitchFamily="34" charset="0"/>
                <a:ea typeface="Inter" pitchFamily="34" charset="-122"/>
                <a:cs typeface="Inter" pitchFamily="34" charset="-120"/>
              </a:rPr>
              <a:t>If you could change one thing about the website what would it be? </a:t>
            </a:r>
            <a:endParaRPr lang="en-US" sz="855" dirty="0"/>
          </a:p>
          <a:p>
            <a:pPr algn="l" indent="0" marL="0">
              <a:lnSpc>
                <a:spcPts val="1283"/>
              </a:lnSpc>
              <a:buNone/>
            </a:pPr>
            <a:r>
              <a:rPr lang="en-US" sz="855" spc="-16" kern="0" dirty="0">
                <a:solidFill>
                  <a:srgbClr val="FFFFFF">
                    <a:alpha val="99000"/>
                  </a:srgbClr>
                </a:solidFill>
                <a:latin typeface="Inter" pitchFamily="34" charset="0"/>
                <a:ea typeface="Inter" pitchFamily="34" charset="-122"/>
                <a:cs typeface="Inter" pitchFamily="34" charset="-120"/>
              </a:rPr>
              <a:t>Would you be willing to participate in a brief follow-up interview (by video) to help us better understand your experience? If yes, please leave your contact info below. We will only use it to reach out for scheduling.</a:t>
            </a:r>
            <a:endParaRPr lang="en-US" sz="855" dirty="0"/>
          </a:p>
        </p:txBody>
      </p:sp>
      <p:sp>
        <p:nvSpPr>
          <p:cNvPr id="4" name="Text 2"/>
          <p:cNvSpPr/>
          <p:nvPr/>
        </p:nvSpPr>
        <p:spPr>
          <a:xfrm>
            <a:off x="219075" y="1171575"/>
            <a:ext cx="4405313" cy="3176588"/>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Interview Questions </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To start, can you tell me a little bit about how you first heard about The Sisters of Mercy or their work in your area?</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How often did you volunteer in High school.</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How do you stay connected with The Sisters of Mercy?</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If you were to need a service from The Sisters of Mercy, how easy/ difficult would it be to find one?</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What kind of services made you feel the most fulfilled?</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Do you donate to the Sisters of Mercy?</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How do you prefer to get updates or information from The Sisters of Mercy? </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Have you ever contacted The Sisters of Mercy with a question or concern? If so, how was that experience?</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What’s one thing The Sisters of Mercy could do that would make your experience better or easier?</a:t>
            </a:r>
            <a:endParaRPr lang="en-US" sz="1140" dirty="0"/>
          </a:p>
          <a:p>
            <a:pPr algn="l" marL="342900" indent="-342900">
              <a:lnSpc>
                <a:spcPts val="1368"/>
              </a:lnSpc>
              <a:buSzPct val="100000"/>
              <a:buFont typeface="+mj-lt"/>
              <a:buAutoNum type="arabicPeriod" startAt="1"/>
            </a:pPr>
            <a:r>
              <a:rPr lang="en-US" sz="855" spc="-9" kern="0" dirty="0">
                <a:solidFill>
                  <a:srgbClr val="FFFFFF">
                    <a:alpha val="99000"/>
                  </a:srgbClr>
                </a:solidFill>
                <a:latin typeface="Roboto" pitchFamily="34" charset="0"/>
                <a:ea typeface="Roboto" pitchFamily="34" charset="-122"/>
                <a:cs typeface="Roboto" pitchFamily="34" charset="-120"/>
              </a:rPr>
              <a:t>Is there anything else you’d like to share about your experience—positive or negative—that we haven’t covered yet?</a:t>
            </a:r>
            <a:pPr algn="l" indent="0" marL="0">
              <a:lnSpc>
                <a:spcPts val="1824"/>
              </a:lnSpc>
              <a:buNone/>
            </a:pPr>
            <a:r>
              <a:rPr lang="en-US" sz="1140" b="1" spc="-11" kern="0" dirty="0">
                <a:solidFill>
                  <a:srgbClr val="FFFFFF">
                    <a:alpha val="99000"/>
                  </a:srgbClr>
                </a:solidFill>
                <a:latin typeface="Roboto" pitchFamily="34" charset="0"/>
                <a:ea typeface="Roboto" pitchFamily="34" charset="-122"/>
                <a:cs typeface="Roboto" pitchFamily="34" charset="-120"/>
              </a:rPr>
              <a:t> </a:t>
            </a:r>
            <a:endParaRPr lang="en-US" sz="11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D054"/>
        </a:solidFill>
      </p:bgPr>
    </p:bg>
    <p:spTree>
      <p:nvGrpSpPr>
        <p:cNvPr id="1" name=""/>
        <p:cNvGrpSpPr/>
        <p:nvPr/>
      </p:nvGrpSpPr>
      <p:grpSpPr>
        <a:xfrm>
          <a:off x="0" y="0"/>
          <a:ext cx="0" cy="0"/>
          <a:chOff x="0" y="0"/>
          <a:chExt cx="0" cy="0"/>
        </a:xfrm>
      </p:grpSpPr>
      <p:sp>
        <p:nvSpPr>
          <p:cNvPr id="2" name="Shape 0"/>
          <p:cNvSpPr/>
          <p:nvPr/>
        </p:nvSpPr>
        <p:spPr>
          <a:xfrm>
            <a:off x="381000" y="2105025"/>
            <a:ext cx="4557713" cy="938213"/>
          </a:xfrm>
          <a:prstGeom prst="rect">
            <a:avLst/>
          </a:prstGeom>
          <a:noFill/>
          <a:ln/>
        </p:spPr>
      </p:sp>
      <p:sp>
        <p:nvSpPr>
          <p:cNvPr id="3" name="Text 1"/>
          <p:cNvSpPr/>
          <p:nvPr/>
        </p:nvSpPr>
        <p:spPr>
          <a:xfrm>
            <a:off x="381000" y="2105025"/>
            <a:ext cx="4557713" cy="547688"/>
          </a:xfrm>
          <a:prstGeom prst="rect">
            <a:avLst/>
          </a:prstGeom>
          <a:noFill/>
          <a:ln/>
        </p:spPr>
        <p:txBody>
          <a:bodyPr wrap="square" lIns="0" tIns="0" rIns="0" bIns="0" rtlCol="0" anchor="ctr"/>
          <a:lstStyle/>
          <a:p>
            <a:pPr algn="l" indent="0" marL="0">
              <a:lnSpc>
                <a:spcPts val="4104"/>
              </a:lnSpc>
              <a:buNone/>
            </a:pPr>
            <a:r>
              <a:rPr lang="en-US" sz="3420" b="1" spc="-103" kern="0" dirty="0">
                <a:solidFill>
                  <a:srgbClr val="BC2062">
                    <a:alpha val="99000"/>
                  </a:srgbClr>
                </a:solidFill>
                <a:latin typeface="Georgia" pitchFamily="34" charset="0"/>
                <a:ea typeface="Georgia" pitchFamily="34" charset="-122"/>
                <a:cs typeface="Georgia" pitchFamily="34" charset="-120"/>
              </a:rPr>
              <a:t>Key Findings</a:t>
            </a:r>
            <a:endParaRPr lang="en-US" sz="3420" dirty="0"/>
          </a:p>
        </p:txBody>
      </p:sp>
      <p:sp>
        <p:nvSpPr>
          <p:cNvPr id="4" name="Text 2"/>
          <p:cNvSpPr/>
          <p:nvPr/>
        </p:nvSpPr>
        <p:spPr>
          <a:xfrm>
            <a:off x="381000" y="2843213"/>
            <a:ext cx="4557713"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000000">
                    <a:alpha val="99000"/>
                  </a:srgbClr>
                </a:solidFill>
                <a:latin typeface="Roboto" pitchFamily="34" charset="0"/>
                <a:ea typeface="Roboto" pitchFamily="34" charset="-122"/>
                <a:cs typeface="Roboto" pitchFamily="34" charset="-120"/>
              </a:rPr>
              <a:t>Answers from Surveys</a:t>
            </a:r>
            <a:endParaRPr lang="en-US" sz="1140" dirty="0"/>
          </a:p>
        </p:txBody>
      </p:sp>
      <p:sp>
        <p:nvSpPr>
          <p:cNvPr id="5" name="Shape 3"/>
          <p:cNvSpPr/>
          <p:nvPr/>
        </p:nvSpPr>
        <p:spPr>
          <a:xfrm>
            <a:off x="381000" y="609600"/>
            <a:ext cx="738188" cy="247650"/>
          </a:xfrm>
          <a:prstGeom prst="roundRect">
            <a:avLst>
              <a:gd name="adj" fmla="val 457846"/>
            </a:avLst>
          </a:prstGeom>
          <a:solidFill>
            <a:srgbClr val="FFFFFF"/>
          </a:solidFill>
          <a:ln/>
        </p:spPr>
      </p:sp>
      <p:sp>
        <p:nvSpPr>
          <p:cNvPr id="6" name="Text 4"/>
          <p:cNvSpPr/>
          <p:nvPr/>
        </p:nvSpPr>
        <p:spPr>
          <a:xfrm>
            <a:off x="495300" y="666750"/>
            <a:ext cx="509587" cy="142875"/>
          </a:xfrm>
          <a:prstGeom prst="rect">
            <a:avLst/>
          </a:prstGeom>
          <a:noFill/>
          <a:ln/>
        </p:spPr>
        <p:txBody>
          <a:bodyPr wrap="square" lIns="0" tIns="0" rIns="0" bIns="0" rtlCol="0" anchor="ctr"/>
          <a:lstStyle/>
          <a:p>
            <a:pPr algn="l" indent="0" marL="0">
              <a:lnSpc>
                <a:spcPts val="1071"/>
              </a:lnSpc>
              <a:buNone/>
            </a:pPr>
            <a:r>
              <a:rPr lang="en-US" sz="855" b="1" spc="34" kern="0" dirty="0">
                <a:solidFill>
                  <a:srgbClr val="111111">
                    <a:alpha val="99000"/>
                  </a:srgbClr>
                </a:solidFill>
                <a:latin typeface="Source Serif Pro" pitchFamily="34" charset="0"/>
                <a:ea typeface="Source Serif Pro" pitchFamily="34" charset="-122"/>
                <a:cs typeface="Source Serif Pro" pitchFamily="34" charset="-120"/>
              </a:rPr>
              <a:t>SURVEYS</a:t>
            </a:r>
            <a:endParaRPr lang="en-US" sz="855" dirty="0"/>
          </a:p>
        </p:txBody>
      </p:sp>
      <p:sp>
        <p:nvSpPr>
          <p:cNvPr id="7" name="Shape 5"/>
          <p:cNvSpPr/>
          <p:nvPr/>
        </p:nvSpPr>
        <p:spPr>
          <a:xfrm>
            <a:off x="1262063" y="609600"/>
            <a:ext cx="962025" cy="247650"/>
          </a:xfrm>
          <a:prstGeom prst="roundRect">
            <a:avLst>
              <a:gd name="adj" fmla="val 457846"/>
            </a:avLst>
          </a:prstGeom>
          <a:solidFill>
            <a:srgbClr val="FFFFFF"/>
          </a:solidFill>
          <a:ln/>
        </p:spPr>
      </p:sp>
      <p:sp>
        <p:nvSpPr>
          <p:cNvPr id="8" name="Text 6"/>
          <p:cNvSpPr/>
          <p:nvPr/>
        </p:nvSpPr>
        <p:spPr>
          <a:xfrm>
            <a:off x="1376363" y="666750"/>
            <a:ext cx="733425" cy="142875"/>
          </a:xfrm>
          <a:prstGeom prst="rect">
            <a:avLst/>
          </a:prstGeom>
          <a:noFill/>
          <a:ln/>
        </p:spPr>
        <p:txBody>
          <a:bodyPr wrap="square" lIns="0" tIns="0" rIns="0" bIns="0" rtlCol="0" anchor="ctr"/>
          <a:lstStyle/>
          <a:p>
            <a:pPr algn="l" indent="0" marL="0">
              <a:lnSpc>
                <a:spcPts val="1071"/>
              </a:lnSpc>
              <a:buNone/>
            </a:pPr>
            <a:r>
              <a:rPr lang="en-US" sz="855" b="1" spc="34" kern="0" dirty="0">
                <a:solidFill>
                  <a:srgbClr val="111111">
                    <a:alpha val="99000"/>
                  </a:srgbClr>
                </a:solidFill>
                <a:latin typeface="Source Serif Pro" pitchFamily="34" charset="0"/>
                <a:ea typeface="Source Serif Pro" pitchFamily="34" charset="-122"/>
                <a:cs typeface="Source Serif Pro" pitchFamily="34" charset="-120"/>
              </a:rPr>
              <a:t>INTERVIEWS</a:t>
            </a:r>
            <a:endParaRPr lang="en-US" sz="85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71825" cy="5143500"/>
          </a:xfrm>
          <a:prstGeom prst="rect">
            <a:avLst/>
          </a:prstGeom>
          <a:solidFill>
            <a:srgbClr val="FFD054"/>
          </a:solidFill>
          <a:ln/>
        </p:spPr>
      </p:sp>
      <p:sp>
        <p:nvSpPr>
          <p:cNvPr id="3" name="Text 1"/>
          <p:cNvSpPr/>
          <p:nvPr/>
        </p:nvSpPr>
        <p:spPr>
          <a:xfrm>
            <a:off x="419100" y="671513"/>
            <a:ext cx="2333625" cy="514350"/>
          </a:xfrm>
          <a:prstGeom prst="rect">
            <a:avLst/>
          </a:prstGeom>
          <a:noFill/>
          <a:ln/>
        </p:spPr>
        <p:txBody>
          <a:bodyPr wrap="square" lIns="0" tIns="0" rIns="0" bIns="0" rtlCol="0" anchor="ctr"/>
          <a:lstStyle/>
          <a:p>
            <a:pPr algn="l" indent="0" marL="0">
              <a:lnSpc>
                <a:spcPts val="3830"/>
              </a:lnSpc>
              <a:buNone/>
            </a:pPr>
            <a:r>
              <a:rPr lang="en-US" sz="3420" b="1" spc="-68" kern="0" dirty="0">
                <a:solidFill>
                  <a:srgbClr val="4034B0">
                    <a:alpha val="99000"/>
                  </a:srgbClr>
                </a:solidFill>
                <a:latin typeface="Georgia" pitchFamily="34" charset="0"/>
                <a:ea typeface="Georgia" pitchFamily="34" charset="-122"/>
                <a:cs typeface="Georgia" pitchFamily="34" charset="-120"/>
              </a:rPr>
              <a:t>Findings</a:t>
            </a:r>
            <a:endParaRPr lang="en-US" sz="3420" dirty="0"/>
          </a:p>
        </p:txBody>
      </p:sp>
      <p:sp>
        <p:nvSpPr>
          <p:cNvPr id="4" name="Text 2"/>
          <p:cNvSpPr/>
          <p:nvPr/>
        </p:nvSpPr>
        <p:spPr>
          <a:xfrm>
            <a:off x="623888" y="1971675"/>
            <a:ext cx="2128838" cy="990600"/>
          </a:xfrm>
          <a:prstGeom prst="rect">
            <a:avLst/>
          </a:prstGeom>
          <a:noFill/>
          <a:ln/>
        </p:spPr>
        <p:txBody>
          <a:bodyPr wrap="square" lIns="0" tIns="0" rIns="0" bIns="0" rtlCol="0" anchor="ctr"/>
          <a:lstStyle/>
          <a:p>
            <a:pPr algn="l" marL="342900" indent="-342900">
              <a:lnSpc>
                <a:spcPts val="1852"/>
              </a:lnSpc>
              <a:buSzPct val="100000"/>
              <a:buChar char="•"/>
            </a:pPr>
            <a:r>
              <a:rPr lang="en-US" sz="1425" spc="-14" kern="0" dirty="0">
                <a:solidFill>
                  <a:srgbClr val="000000">
                    <a:alpha val="99000"/>
                  </a:srgbClr>
                </a:solidFill>
                <a:latin typeface="Roboto" pitchFamily="34" charset="0"/>
                <a:ea typeface="Roboto" pitchFamily="34" charset="-122"/>
                <a:cs typeface="Roboto" pitchFamily="34" charset="-120"/>
              </a:rPr>
              <a:t>Interviews</a:t>
            </a:r>
            <a:endParaRPr lang="en-US" sz="1425" dirty="0"/>
          </a:p>
          <a:p>
            <a:pPr algn="l" marL="342900" indent="-342900">
              <a:lnSpc>
                <a:spcPts val="1852"/>
              </a:lnSpc>
              <a:buSzPct val="100000"/>
              <a:buChar char="•"/>
            </a:pPr>
            <a:r>
              <a:rPr lang="en-US" sz="1425" spc="-14" kern="0" dirty="0">
                <a:solidFill>
                  <a:srgbClr val="000000">
                    <a:alpha val="99000"/>
                  </a:srgbClr>
                </a:solidFill>
                <a:latin typeface="Roboto" pitchFamily="34" charset="0"/>
                <a:ea typeface="Roboto" pitchFamily="34" charset="-122"/>
                <a:cs typeface="Roboto" pitchFamily="34" charset="-120"/>
              </a:rPr>
              <a:t>Survey</a:t>
            </a:r>
            <a:endParaRPr lang="en-US" sz="1425" dirty="0"/>
          </a:p>
          <a:p>
            <a:pPr algn="l" marL="342900" indent="-342900">
              <a:lnSpc>
                <a:spcPts val="1852"/>
              </a:lnSpc>
              <a:buSzPct val="100000"/>
              <a:buChar char="•"/>
            </a:pPr>
            <a:r>
              <a:rPr lang="en-US" sz="1425" spc="-14" kern="0" dirty="0">
                <a:solidFill>
                  <a:srgbClr val="000000">
                    <a:alpha val="99000"/>
                  </a:srgbClr>
                </a:solidFill>
                <a:latin typeface="Roboto" pitchFamily="34" charset="0"/>
                <a:ea typeface="Roboto" pitchFamily="34" charset="-122"/>
                <a:cs typeface="Roboto" pitchFamily="34" charset="-120"/>
              </a:rPr>
              <a:t>Empathy Mapping</a:t>
            </a:r>
            <a:endParaRPr lang="en-US" sz="1425" dirty="0"/>
          </a:p>
          <a:p>
            <a:pPr algn="l" marL="342900" indent="-342900">
              <a:lnSpc>
                <a:spcPts val="1852"/>
              </a:lnSpc>
              <a:buSzPct val="100000"/>
              <a:buChar char="•"/>
            </a:pPr>
            <a:r>
              <a:rPr lang="en-US" sz="1425" spc="-14" kern="0" dirty="0">
                <a:solidFill>
                  <a:srgbClr val="000000">
                    <a:alpha val="99000"/>
                  </a:srgbClr>
                </a:solidFill>
                <a:latin typeface="Roboto" pitchFamily="34" charset="0"/>
                <a:ea typeface="Roboto" pitchFamily="34" charset="-122"/>
                <a:cs typeface="Roboto" pitchFamily="34" charset="-120"/>
              </a:rPr>
              <a:t>User Journey</a:t>
            </a:r>
            <a:endParaRPr lang="en-US" sz="1425" dirty="0"/>
          </a:p>
        </p:txBody>
      </p:sp>
      <p:sp>
        <p:nvSpPr>
          <p:cNvPr id="5" name="Shape 3"/>
          <p:cNvSpPr/>
          <p:nvPr/>
        </p:nvSpPr>
        <p:spPr>
          <a:xfrm>
            <a:off x="3914775" y="1626394"/>
            <a:ext cx="4291013" cy="1276350"/>
          </a:xfrm>
          <a:prstGeom prst="rect">
            <a:avLst/>
          </a:prstGeom>
          <a:noFill/>
          <a:ln/>
        </p:spPr>
      </p:sp>
      <p:sp>
        <p:nvSpPr>
          <p:cNvPr id="6" name="Text 4"/>
          <p:cNvSpPr/>
          <p:nvPr/>
        </p:nvSpPr>
        <p:spPr>
          <a:xfrm>
            <a:off x="3914775" y="1626394"/>
            <a:ext cx="4291013" cy="928688"/>
          </a:xfrm>
          <a:prstGeom prst="rect">
            <a:avLst/>
          </a:prstGeom>
          <a:noFill/>
          <a:ln/>
        </p:spPr>
        <p:txBody>
          <a:bodyPr wrap="square" lIns="0" tIns="0" rIns="0" bIns="0" rtlCol="0" anchor="ctr"/>
          <a:lstStyle/>
          <a:p>
            <a:pPr algn="l" indent="0" marL="0">
              <a:lnSpc>
                <a:spcPts val="1389"/>
              </a:lnSpc>
              <a:buNone/>
            </a:pPr>
            <a:r>
              <a:rPr lang="en-US" sz="1069" spc="-11" kern="0" dirty="0">
                <a:solidFill>
                  <a:srgbClr val="000000">
                    <a:alpha val="99000"/>
                  </a:srgbClr>
                </a:solidFill>
                <a:latin typeface="Roboto" pitchFamily="34" charset="0"/>
                <a:ea typeface="Roboto" pitchFamily="34" charset="-122"/>
                <a:cs typeface="Roboto" pitchFamily="34" charset="-120"/>
              </a:rPr>
              <a:t>Users feel disconnected,</a:t>
            </a:r>
            <a:endParaRPr lang="en-US" sz="1069" dirty="0"/>
          </a:p>
          <a:p>
            <a:pPr algn="l" indent="0" marL="0">
              <a:lnSpc>
                <a:spcPts val="1389"/>
              </a:lnSpc>
              <a:buNone/>
            </a:pPr>
            <a:r>
              <a:rPr lang="en-US" sz="1069" spc="-11" kern="0" dirty="0">
                <a:solidFill>
                  <a:srgbClr val="000000">
                    <a:alpha val="99000"/>
                  </a:srgbClr>
                </a:solidFill>
                <a:latin typeface="Roboto" pitchFamily="34" charset="0"/>
                <a:ea typeface="Roboto" pitchFamily="34" charset="-122"/>
                <a:cs typeface="Roboto" pitchFamily="34" charset="-120"/>
              </a:rPr>
              <a:t>prefered source of content is social media, </a:t>
            </a:r>
            <a:endParaRPr lang="en-US" sz="1069" dirty="0"/>
          </a:p>
          <a:p>
            <a:pPr algn="l" indent="0" marL="0">
              <a:lnSpc>
                <a:spcPts val="1389"/>
              </a:lnSpc>
              <a:buNone/>
            </a:pPr>
            <a:r>
              <a:rPr lang="en-US" sz="1069" spc="-11" kern="0" dirty="0">
                <a:solidFill>
                  <a:srgbClr val="000000">
                    <a:alpha val="99000"/>
                  </a:srgbClr>
                </a:solidFill>
                <a:latin typeface="Roboto" pitchFamily="34" charset="0"/>
                <a:ea typeface="Roboto" pitchFamily="34" charset="-122"/>
                <a:cs typeface="Roboto" pitchFamily="34" charset="-120"/>
              </a:rPr>
              <a:t>wishes there was more connection after graduation from mercy schools, </a:t>
            </a:r>
            <a:endParaRPr lang="en-US" sz="1069" dirty="0"/>
          </a:p>
          <a:p>
            <a:pPr algn="l" indent="0" marL="0">
              <a:lnSpc>
                <a:spcPts val="1389"/>
              </a:lnSpc>
              <a:buNone/>
            </a:pPr>
            <a:r>
              <a:rPr lang="en-US" sz="1069" spc="-11" kern="0" dirty="0">
                <a:solidFill>
                  <a:srgbClr val="000000">
                    <a:alpha val="99000"/>
                  </a:srgbClr>
                </a:solidFill>
                <a:latin typeface="Roboto" pitchFamily="34" charset="0"/>
                <a:ea typeface="Roboto" pitchFamily="34" charset="-122"/>
                <a:cs typeface="Roboto" pitchFamily="34" charset="-120"/>
              </a:rPr>
              <a:t>prefers texts over emails.</a:t>
            </a:r>
            <a:endParaRPr lang="en-US" sz="1069" dirty="0"/>
          </a:p>
        </p:txBody>
      </p:sp>
      <p:sp>
        <p:nvSpPr>
          <p:cNvPr id="7" name="Text 5"/>
          <p:cNvSpPr/>
          <p:nvPr/>
        </p:nvSpPr>
        <p:spPr>
          <a:xfrm>
            <a:off x="3914775" y="2688431"/>
            <a:ext cx="4291013" cy="214313"/>
          </a:xfrm>
          <a:prstGeom prst="rect">
            <a:avLst/>
          </a:prstGeom>
          <a:noFill/>
          <a:ln/>
        </p:spPr>
        <p:txBody>
          <a:bodyPr wrap="square" lIns="0" tIns="0" rIns="0" bIns="0" rtlCol="0" anchor="ctr"/>
          <a:lstStyle/>
          <a:p>
            <a:pPr algn="l" indent="0" marL="0">
              <a:lnSpc>
                <a:spcPts val="1619"/>
              </a:lnSpc>
              <a:buNone/>
            </a:pPr>
            <a:r>
              <a:rPr lang="en-US" sz="1425" b="1" dirty="0">
                <a:solidFill>
                  <a:srgbClr val="111111">
                    <a:alpha val="99000"/>
                  </a:srgbClr>
                </a:solidFill>
                <a:latin typeface="Georgia" pitchFamily="34" charset="0"/>
                <a:ea typeface="Georgia" pitchFamily="34" charset="-122"/>
                <a:cs typeface="Georgia" pitchFamily="34" charset="-120"/>
              </a:rPr>
              <a:t>Empathy Mapping</a:t>
            </a:r>
            <a:endParaRPr lang="en-US" sz="1425" dirty="0"/>
          </a:p>
        </p:txBody>
      </p:sp>
      <p:sp>
        <p:nvSpPr>
          <p:cNvPr id="8" name="Shape 6"/>
          <p:cNvSpPr/>
          <p:nvPr/>
        </p:nvSpPr>
        <p:spPr>
          <a:xfrm>
            <a:off x="3867150" y="1414463"/>
            <a:ext cx="3810000" cy="214313"/>
          </a:xfrm>
          <a:prstGeom prst="rect">
            <a:avLst/>
          </a:prstGeom>
          <a:noFill/>
          <a:ln/>
        </p:spPr>
      </p:sp>
      <p:sp>
        <p:nvSpPr>
          <p:cNvPr id="9" name="Text 7"/>
          <p:cNvSpPr/>
          <p:nvPr/>
        </p:nvSpPr>
        <p:spPr>
          <a:xfrm>
            <a:off x="3867150" y="1414463"/>
            <a:ext cx="3810000" cy="214313"/>
          </a:xfrm>
          <a:prstGeom prst="rect">
            <a:avLst/>
          </a:prstGeom>
          <a:noFill/>
          <a:ln/>
        </p:spPr>
        <p:txBody>
          <a:bodyPr wrap="square" lIns="0" tIns="0" rIns="0" bIns="0" rtlCol="0" anchor="ctr"/>
          <a:lstStyle/>
          <a:p>
            <a:pPr algn="l" indent="0" marL="0">
              <a:lnSpc>
                <a:spcPts val="1619"/>
              </a:lnSpc>
              <a:buNone/>
            </a:pPr>
            <a:r>
              <a:rPr lang="en-US" sz="1425" b="1" dirty="0">
                <a:solidFill>
                  <a:srgbClr val="111111">
                    <a:alpha val="99000"/>
                  </a:srgbClr>
                </a:solidFill>
                <a:latin typeface="Georgia" pitchFamily="34" charset="0"/>
                <a:ea typeface="Georgia" pitchFamily="34" charset="-122"/>
                <a:cs typeface="Georgia" pitchFamily="34" charset="-120"/>
              </a:rPr>
              <a:t>User Survey/Interview: </a:t>
            </a:r>
            <a:endParaRPr lang="en-US" sz="1425" dirty="0"/>
          </a:p>
        </p:txBody>
      </p:sp>
      <p:sp>
        <p:nvSpPr>
          <p:cNvPr id="10" name="Text 8"/>
          <p:cNvSpPr/>
          <p:nvPr/>
        </p:nvSpPr>
        <p:spPr>
          <a:xfrm>
            <a:off x="3914775" y="3795713"/>
            <a:ext cx="3810000" cy="214313"/>
          </a:xfrm>
          <a:prstGeom prst="rect">
            <a:avLst/>
          </a:prstGeom>
          <a:noFill/>
          <a:ln/>
        </p:spPr>
        <p:txBody>
          <a:bodyPr wrap="square" lIns="0" tIns="0" rIns="0" bIns="0" rtlCol="0" anchor="ctr"/>
          <a:lstStyle/>
          <a:p>
            <a:pPr algn="l" indent="0" marL="0">
              <a:lnSpc>
                <a:spcPts val="1619"/>
              </a:lnSpc>
              <a:buNone/>
            </a:pPr>
            <a:r>
              <a:rPr lang="en-US" sz="1425" b="1" dirty="0">
                <a:solidFill>
                  <a:srgbClr val="111111">
                    <a:alpha val="99000"/>
                  </a:srgbClr>
                </a:solidFill>
                <a:latin typeface="Georgia" pitchFamily="34" charset="0"/>
                <a:ea typeface="Georgia" pitchFamily="34" charset="-122"/>
                <a:cs typeface="Georgia" pitchFamily="34" charset="-120"/>
              </a:rPr>
              <a:t>User Journey Map</a:t>
            </a:r>
            <a:endParaRPr lang="en-US" sz="1425" dirty="0"/>
          </a:p>
        </p:txBody>
      </p:sp>
      <p:sp>
        <p:nvSpPr>
          <p:cNvPr id="11" name="Text 9"/>
          <p:cNvSpPr/>
          <p:nvPr/>
        </p:nvSpPr>
        <p:spPr>
          <a:xfrm>
            <a:off x="3914775" y="4010025"/>
            <a:ext cx="3619500" cy="1000125"/>
          </a:xfrm>
          <a:prstGeom prst="rect">
            <a:avLst/>
          </a:prstGeom>
          <a:noFill/>
          <a:ln/>
        </p:spPr>
        <p:txBody>
          <a:bodyPr wrap="square" lIns="0" tIns="0" rIns="0" bIns="0" rtlCol="0" anchor="ctr"/>
          <a:lstStyle/>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Section names are unclear</a:t>
            </a:r>
            <a:endParaRPr lang="en-US" sz="1140" dirty="0"/>
          </a:p>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Some sections are not updated</a:t>
            </a:r>
            <a:endParaRPr lang="en-US" sz="1140" dirty="0"/>
          </a:p>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Donating is at the bottom of the donation page, easily missed</a:t>
            </a:r>
            <a:endParaRPr lang="en-US" sz="1140" dirty="0"/>
          </a:p>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Volunteer page takes you to a different website</a:t>
            </a:r>
            <a:endParaRPr lang="en-US" sz="1140" dirty="0"/>
          </a:p>
        </p:txBody>
      </p:sp>
      <p:sp>
        <p:nvSpPr>
          <p:cNvPr id="12" name="Text 10"/>
          <p:cNvSpPr/>
          <p:nvPr/>
        </p:nvSpPr>
        <p:spPr>
          <a:xfrm>
            <a:off x="3867150" y="2947988"/>
            <a:ext cx="2914650" cy="800100"/>
          </a:xfrm>
          <a:prstGeom prst="rect">
            <a:avLst/>
          </a:prstGeom>
          <a:noFill/>
          <a:ln/>
        </p:spPr>
        <p:txBody>
          <a:bodyPr wrap="square" lIns="0" tIns="0" rIns="0" bIns="0" rtlCol="0" anchor="ctr"/>
          <a:lstStyle/>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Lack of engagement on social media</a:t>
            </a:r>
            <a:endParaRPr lang="en-US" sz="1140" dirty="0"/>
          </a:p>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Doesn’t enjoy the email newsletters</a:t>
            </a:r>
            <a:endParaRPr lang="en-US" sz="1140" dirty="0"/>
          </a:p>
          <a:p>
            <a:pPr algn="l" marL="342900" indent="-342900">
              <a:lnSpc>
                <a:spcPts val="1482"/>
              </a:lnSpc>
              <a:buSzPct val="100000"/>
              <a:buChar char="•"/>
            </a:pPr>
            <a:r>
              <a:rPr lang="en-US" sz="1140" spc="-11" kern="0" dirty="0">
                <a:solidFill>
                  <a:srgbClr val="000000">
                    <a:alpha val="99000"/>
                  </a:srgbClr>
                </a:solidFill>
                <a:latin typeface="Roboto" pitchFamily="34" charset="0"/>
                <a:ea typeface="Roboto" pitchFamily="34" charset="-122"/>
                <a:cs typeface="Roboto" pitchFamily="34" charset="-120"/>
              </a:rPr>
              <a:t>Wishes there were more volunteering events </a:t>
            </a:r>
            <a:endParaRPr lang="en-US" sz="11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034B0"/>
        </a:solidFill>
      </p:bgPr>
    </p:bg>
    <p:spTree>
      <p:nvGrpSpPr>
        <p:cNvPr id="1" name=""/>
        <p:cNvGrpSpPr/>
        <p:nvPr/>
      </p:nvGrpSpPr>
      <p:grpSpPr>
        <a:xfrm>
          <a:off x="0" y="0"/>
          <a:ext cx="0" cy="0"/>
          <a:chOff x="0" y="0"/>
          <a:chExt cx="0" cy="0"/>
        </a:xfrm>
      </p:grpSpPr>
      <p:sp>
        <p:nvSpPr>
          <p:cNvPr id="3" name="Shape 0"/>
          <p:cNvSpPr/>
          <p:nvPr/>
        </p:nvSpPr>
        <p:spPr>
          <a:xfrm>
            <a:off x="381000" y="1831181"/>
            <a:ext cx="4557713" cy="1485900"/>
          </a:xfrm>
          <a:prstGeom prst="rect">
            <a:avLst/>
          </a:prstGeom>
          <a:noFill/>
          <a:ln/>
        </p:spPr>
      </p:sp>
      <p:sp>
        <p:nvSpPr>
          <p:cNvPr id="4" name="Text 1"/>
          <p:cNvSpPr/>
          <p:nvPr/>
        </p:nvSpPr>
        <p:spPr>
          <a:xfrm>
            <a:off x="381000" y="1831181"/>
            <a:ext cx="4557713" cy="1095375"/>
          </a:xfrm>
          <a:prstGeom prst="rect">
            <a:avLst/>
          </a:prstGeom>
          <a:noFill/>
          <a:ln/>
        </p:spPr>
        <p:txBody>
          <a:bodyPr wrap="square" lIns="0" tIns="0" rIns="0" bIns="0" rtlCol="0" anchor="ctr"/>
          <a:lstStyle/>
          <a:p>
            <a:pPr algn="l" indent="0" marL="0">
              <a:lnSpc>
                <a:spcPts val="4104"/>
              </a:lnSpc>
              <a:buNone/>
            </a:pPr>
            <a:r>
              <a:rPr lang="en-US" sz="3420" b="1" spc="-103" kern="0" dirty="0">
                <a:solidFill>
                  <a:srgbClr val="FFFFFF">
                    <a:alpha val="99000"/>
                  </a:srgbClr>
                </a:solidFill>
                <a:latin typeface="Georgia" pitchFamily="34" charset="0"/>
                <a:ea typeface="Georgia" pitchFamily="34" charset="-122"/>
                <a:cs typeface="Georgia" pitchFamily="34" charset="-120"/>
              </a:rPr>
              <a:t>Opportunities &amp; Recommendations</a:t>
            </a:r>
            <a:endParaRPr lang="en-US" sz="3420" dirty="0"/>
          </a:p>
        </p:txBody>
      </p:sp>
      <p:sp>
        <p:nvSpPr>
          <p:cNvPr id="5" name="Text 2"/>
          <p:cNvSpPr/>
          <p:nvPr/>
        </p:nvSpPr>
        <p:spPr>
          <a:xfrm>
            <a:off x="381000" y="3117056"/>
            <a:ext cx="4557713" cy="200025"/>
          </a:xfrm>
          <a:prstGeom prst="rect">
            <a:avLst/>
          </a:prstGeom>
          <a:noFill/>
          <a:ln/>
        </p:spPr>
        <p:txBody>
          <a:bodyPr wrap="square" lIns="0" tIns="0" rIns="0" bIns="0" rtlCol="0" anchor="ctr"/>
          <a:lstStyle/>
          <a:p>
            <a:pPr algn="l" indent="0" marL="0">
              <a:lnSpc>
                <a:spcPts val="1482"/>
              </a:lnSpc>
              <a:buNone/>
            </a:pPr>
            <a:r>
              <a:rPr lang="en-US" sz="1140" spc="-11" kern="0" dirty="0">
                <a:solidFill>
                  <a:srgbClr val="FFFFFF">
                    <a:alpha val="99000"/>
                  </a:srgbClr>
                </a:solidFill>
                <a:latin typeface="Roboto" pitchFamily="34" charset="0"/>
                <a:ea typeface="Roboto" pitchFamily="34" charset="-122"/>
                <a:cs typeface="Roboto" pitchFamily="34" charset="-120"/>
              </a:rPr>
              <a:t>Based on our recomendations</a:t>
            </a:r>
            <a:endParaRPr lang="en-US" sz="1140" dirty="0"/>
          </a:p>
        </p:txBody>
      </p:sp>
      <p:sp>
        <p:nvSpPr>
          <p:cNvPr id="6" name="Shape 3"/>
          <p:cNvSpPr/>
          <p:nvPr/>
        </p:nvSpPr>
        <p:spPr>
          <a:xfrm>
            <a:off x="381000" y="609600"/>
            <a:ext cx="814388" cy="238125"/>
          </a:xfrm>
          <a:prstGeom prst="roundRect">
            <a:avLst>
              <a:gd name="adj" fmla="val 476160"/>
            </a:avLst>
          </a:prstGeom>
          <a:solidFill>
            <a:srgbClr val="FFFFFF"/>
          </a:solidFill>
          <a:ln/>
        </p:spPr>
      </p:sp>
      <p:sp>
        <p:nvSpPr>
          <p:cNvPr id="7" name="Text 4"/>
          <p:cNvSpPr/>
          <p:nvPr/>
        </p:nvSpPr>
        <p:spPr>
          <a:xfrm>
            <a:off x="495300" y="666750"/>
            <a:ext cx="585788" cy="133350"/>
          </a:xfrm>
          <a:prstGeom prst="rect">
            <a:avLst/>
          </a:prstGeom>
          <a:noFill/>
          <a:ln/>
        </p:spPr>
        <p:txBody>
          <a:bodyPr wrap="square" lIns="0" tIns="0" rIns="0" bIns="0" rtlCol="0" anchor="ctr"/>
          <a:lstStyle/>
          <a:p>
            <a:pPr algn="l" indent="0" marL="0">
              <a:lnSpc>
                <a:spcPts val="1002"/>
              </a:lnSpc>
              <a:buNone/>
            </a:pPr>
            <a:r>
              <a:rPr lang="en-US" sz="855" b="1" spc="34" kern="0" dirty="0">
                <a:solidFill>
                  <a:srgbClr val="111111">
                    <a:alpha val="99000"/>
                  </a:srgbClr>
                </a:solidFill>
                <a:latin typeface="Roboto" pitchFamily="34" charset="0"/>
                <a:ea typeface="Roboto" pitchFamily="34" charset="-122"/>
                <a:cs typeface="Roboto" pitchFamily="34" charset="-120"/>
              </a:rPr>
              <a:t>FEATURES</a:t>
            </a:r>
            <a:endParaRPr lang="en-US" sz="85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2814638" y="609600"/>
            <a:ext cx="3514725" cy="619125"/>
          </a:xfrm>
          <a:prstGeom prst="rect">
            <a:avLst/>
          </a:prstGeom>
          <a:noFill/>
          <a:ln/>
        </p:spPr>
        <p:txBody>
          <a:bodyPr wrap="square" lIns="0" tIns="0" rIns="0" bIns="0" rtlCol="0" anchor="ctr"/>
          <a:lstStyle/>
          <a:p>
            <a:pPr algn="l" indent="0" marL="0">
              <a:lnSpc>
                <a:spcPts val="4617"/>
              </a:lnSpc>
              <a:buNone/>
            </a:pPr>
            <a:r>
              <a:rPr lang="en-US" sz="4275" spc="-128" kern="0" dirty="0">
                <a:solidFill>
                  <a:srgbClr val="FFFFFF">
                    <a:alpha val="99000"/>
                  </a:srgbClr>
                </a:solidFill>
                <a:latin typeface="Georgia" pitchFamily="34" charset="0"/>
                <a:ea typeface="Georgia" pitchFamily="34" charset="-122"/>
                <a:cs typeface="Georgia" pitchFamily="34" charset="-120"/>
              </a:rPr>
              <a:t>Opportunities</a:t>
            </a:r>
            <a:endParaRPr lang="en-US" sz="4275" dirty="0"/>
          </a:p>
        </p:txBody>
      </p:sp>
      <p:sp>
        <p:nvSpPr>
          <p:cNvPr id="3" name="Text 1"/>
          <p:cNvSpPr/>
          <p:nvPr/>
        </p:nvSpPr>
        <p:spPr>
          <a:xfrm>
            <a:off x="495300" y="1819275"/>
            <a:ext cx="4395788" cy="2200275"/>
          </a:xfrm>
          <a:prstGeom prst="rect">
            <a:avLst/>
          </a:prstGeom>
          <a:noFill/>
          <a:ln/>
        </p:spPr>
        <p:txBody>
          <a:bodyPr wrap="square" lIns="0" tIns="0" rIns="0" bIns="0" rtlCol="0" anchor="ctr"/>
          <a:lstStyle/>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Make name changes to tabs to make them more clear</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Post more on social media</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like video stories about volunteering</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Post more about events</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Alumni events on social media</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campaigns </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Donation Journey</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Send information about what the donor helped to do</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Personalize the donation journey</a:t>
            </a:r>
            <a:endParaRPr lang="en-US" sz="1140" dirty="0"/>
          </a:p>
          <a:p>
            <a:pPr algn="l" marL="3429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Personalization to Website</a:t>
            </a:r>
            <a:endParaRPr lang="en-US" sz="1140" dirty="0"/>
          </a:p>
          <a:p>
            <a:pPr algn="l" lvl="1" marL="685800" indent="-342900">
              <a:lnSpc>
                <a:spcPts val="1482"/>
              </a:lnSpc>
              <a:buSzPct val="100000"/>
              <a:buChar char="•"/>
            </a:pPr>
            <a:r>
              <a:rPr lang="en-US" sz="1140" spc="-11" kern="0" dirty="0">
                <a:solidFill>
                  <a:srgbClr val="FFFFFF">
                    <a:alpha val="99000"/>
                  </a:srgbClr>
                </a:solidFill>
                <a:latin typeface="Roboto" pitchFamily="34" charset="0"/>
                <a:ea typeface="Roboto" pitchFamily="34" charset="-122"/>
                <a:cs typeface="Roboto" pitchFamily="34" charset="-120"/>
              </a:rPr>
              <a:t>Log-in page to set up an algorithim for articles of interest.</a:t>
            </a:r>
            <a:endParaRPr lang="en-US" sz="1140" dirty="0"/>
          </a:p>
        </p:txBody>
      </p:sp>
      <p:pic>
        <p:nvPicPr>
          <p:cNvPr id="4" name="Image 0" descr="preencoded.png">    </p:cNvPr>
          <p:cNvPicPr>
            <a:picLocks noChangeAspect="1"/>
          </p:cNvPicPr>
          <p:nvPr/>
        </p:nvPicPr>
        <p:blipFill>
          <a:blip r:embed="rId1"/>
          <a:srcRect l="0" r="0" t="0" b="0"/>
          <a:stretch/>
        </p:blipFill>
        <p:spPr>
          <a:xfrm>
            <a:off x="6276975" y="1819275"/>
            <a:ext cx="2066925" cy="20669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347663" y="766763"/>
            <a:ext cx="4943475" cy="619125"/>
          </a:xfrm>
          <a:prstGeom prst="rect">
            <a:avLst/>
          </a:prstGeom>
          <a:noFill/>
          <a:ln/>
        </p:spPr>
        <p:txBody>
          <a:bodyPr wrap="square" lIns="0" tIns="0" rIns="0" bIns="0" rtlCol="0" anchor="ctr"/>
          <a:lstStyle/>
          <a:p>
            <a:pPr algn="l" indent="0" marL="0">
              <a:lnSpc>
                <a:spcPts val="4617"/>
              </a:lnSpc>
              <a:buNone/>
            </a:pPr>
            <a:r>
              <a:rPr lang="en-US" sz="4275" spc="-128" kern="0" dirty="0">
                <a:solidFill>
                  <a:srgbClr val="FFFFFF">
                    <a:alpha val="99000"/>
                  </a:srgbClr>
                </a:solidFill>
                <a:latin typeface="Georgia" pitchFamily="34" charset="0"/>
                <a:ea typeface="Georgia" pitchFamily="34" charset="-122"/>
                <a:cs typeface="Georgia" pitchFamily="34" charset="-120"/>
              </a:rPr>
              <a:t>Reccomendations</a:t>
            </a:r>
            <a:endParaRPr lang="en-US" sz="4275" dirty="0"/>
          </a:p>
        </p:txBody>
      </p:sp>
      <p:sp>
        <p:nvSpPr>
          <p:cNvPr id="3" name="Text 1"/>
          <p:cNvSpPr/>
          <p:nvPr/>
        </p:nvSpPr>
        <p:spPr>
          <a:xfrm>
            <a:off x="4433888" y="1771650"/>
            <a:ext cx="4214813" cy="1866900"/>
          </a:xfrm>
          <a:prstGeom prst="rect">
            <a:avLst/>
          </a:prstGeom>
          <a:noFill/>
          <a:ln/>
        </p:spPr>
        <p:txBody>
          <a:bodyPr wrap="square" lIns="0" tIns="0" rIns="0" bIns="0" rtlCol="0" anchor="ctr"/>
          <a:lstStyle/>
          <a:p>
            <a:pPr algn="l" marL="342900" indent="-342900">
              <a:lnSpc>
                <a:spcPts val="1760"/>
              </a:lnSpc>
              <a:buSzPct val="100000"/>
              <a:buChar char="•"/>
            </a:pPr>
            <a:r>
              <a:rPr lang="en-US" sz="1354" spc="-14" kern="0" dirty="0">
                <a:solidFill>
                  <a:srgbClr val="FFFFFF">
                    <a:alpha val="99000"/>
                  </a:srgbClr>
                </a:solidFill>
                <a:latin typeface="Roboto" pitchFamily="34" charset="0"/>
                <a:ea typeface="Roboto" pitchFamily="34" charset="-122"/>
                <a:cs typeface="Roboto" pitchFamily="34" charset="-120"/>
              </a:rPr>
              <a:t>Expand to texts about current events instead of just email newsletters</a:t>
            </a:r>
            <a:endParaRPr lang="en-US" sz="1354" dirty="0"/>
          </a:p>
          <a:p>
            <a:pPr algn="l" lvl="1" marL="685800" indent="-342900">
              <a:lnSpc>
                <a:spcPts val="1760"/>
              </a:lnSpc>
              <a:buSzPct val="100000"/>
              <a:buChar char="•"/>
            </a:pPr>
            <a:r>
              <a:rPr lang="en-US" sz="1354" spc="-14" kern="0" dirty="0">
                <a:solidFill>
                  <a:srgbClr val="FFFFFF">
                    <a:alpha val="99000"/>
                  </a:srgbClr>
                </a:solidFill>
                <a:latin typeface="Roboto" pitchFamily="34" charset="0"/>
                <a:ea typeface="Roboto" pitchFamily="34" charset="-122"/>
                <a:cs typeface="Roboto" pitchFamily="34" charset="-120"/>
              </a:rPr>
              <a:t>Connects both younger and older audiences</a:t>
            </a:r>
            <a:endParaRPr lang="en-US" sz="1354" dirty="0"/>
          </a:p>
          <a:p>
            <a:pPr algn="l" marL="342900" indent="-342900">
              <a:lnSpc>
                <a:spcPts val="1760"/>
              </a:lnSpc>
              <a:buSzPct val="100000"/>
              <a:buChar char="•"/>
            </a:pPr>
            <a:r>
              <a:rPr lang="en-US" sz="1354" spc="-14" kern="0" dirty="0">
                <a:solidFill>
                  <a:srgbClr val="FFFFFF">
                    <a:alpha val="99000"/>
                  </a:srgbClr>
                </a:solidFill>
                <a:latin typeface="Roboto" pitchFamily="34" charset="0"/>
                <a:ea typeface="Roboto" pitchFamily="34" charset="-122"/>
                <a:cs typeface="Roboto" pitchFamily="34" charset="-120"/>
              </a:rPr>
              <a:t>Make volunteer signup on same website for easier process</a:t>
            </a:r>
            <a:endParaRPr lang="en-US" sz="1354" dirty="0"/>
          </a:p>
          <a:p>
            <a:pPr algn="l" marL="342900" indent="-342900">
              <a:lnSpc>
                <a:spcPts val="1760"/>
              </a:lnSpc>
              <a:buSzPct val="100000"/>
              <a:buChar char="•"/>
            </a:pPr>
            <a:r>
              <a:rPr lang="en-US" sz="1354" spc="-14" kern="0" dirty="0">
                <a:solidFill>
                  <a:srgbClr val="FFFFFF">
                    <a:alpha val="99000"/>
                  </a:srgbClr>
                </a:solidFill>
                <a:latin typeface="Roboto" pitchFamily="34" charset="0"/>
                <a:ea typeface="Roboto" pitchFamily="34" charset="-122"/>
                <a:cs typeface="Roboto" pitchFamily="34" charset="-120"/>
              </a:rPr>
              <a:t>Make important information pop more on website so things are easier to find</a:t>
            </a:r>
            <a:endParaRPr lang="en-US" sz="1354" dirty="0"/>
          </a:p>
        </p:txBody>
      </p:sp>
      <p:pic>
        <p:nvPicPr>
          <p:cNvPr id="4" name="Image 0" descr="preencoded.png">    </p:cNvPr>
          <p:cNvPicPr>
            <a:picLocks noChangeAspect="1"/>
          </p:cNvPicPr>
          <p:nvPr/>
        </p:nvPicPr>
        <p:blipFill>
          <a:blip r:embed="rId1"/>
          <a:srcRect l="0" r="0" t="0" b="0"/>
          <a:stretch/>
        </p:blipFill>
        <p:spPr>
          <a:xfrm>
            <a:off x="619125" y="1447800"/>
            <a:ext cx="2438400" cy="2438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034B0"/>
        </a:solidFill>
      </p:bgPr>
    </p:bg>
    <p:spTree>
      <p:nvGrpSpPr>
        <p:cNvPr id="1" name=""/>
        <p:cNvGrpSpPr/>
        <p:nvPr/>
      </p:nvGrpSpPr>
      <p:grpSpPr>
        <a:xfrm>
          <a:off x="0" y="0"/>
          <a:ext cx="0" cy="0"/>
          <a:chOff x="0" y="0"/>
          <a:chExt cx="0" cy="0"/>
        </a:xfrm>
      </p:grpSpPr>
      <p:sp>
        <p:nvSpPr>
          <p:cNvPr id="2" name="Text 0"/>
          <p:cNvSpPr/>
          <p:nvPr/>
        </p:nvSpPr>
        <p:spPr>
          <a:xfrm>
            <a:off x="2814638" y="2028825"/>
            <a:ext cx="3514725" cy="657225"/>
          </a:xfrm>
          <a:prstGeom prst="rect">
            <a:avLst/>
          </a:prstGeom>
          <a:noFill/>
          <a:ln/>
        </p:spPr>
        <p:txBody>
          <a:bodyPr wrap="square" lIns="0" tIns="0" rIns="0" bIns="0" rtlCol="0" anchor="ctr"/>
          <a:lstStyle/>
          <a:p>
            <a:pPr algn="l" indent="0" marL="0">
              <a:lnSpc>
                <a:spcPts val="4925"/>
              </a:lnSpc>
              <a:buNone/>
            </a:pPr>
            <a:r>
              <a:rPr lang="en-US" sz="4560" spc="-137" kern="0" dirty="0">
                <a:solidFill>
                  <a:srgbClr val="FFFFFF">
                    <a:alpha val="99000"/>
                  </a:srgbClr>
                </a:solidFill>
                <a:latin typeface="Georgia" pitchFamily="34" charset="0"/>
                <a:ea typeface="Georgia" pitchFamily="34" charset="-122"/>
                <a:cs typeface="Georgia" pitchFamily="34" charset="-120"/>
              </a:rPr>
              <a:t>Thank you!</a:t>
            </a:r>
            <a:endParaRPr lang="en-US" sz="4560" dirty="0"/>
          </a:p>
        </p:txBody>
      </p:sp>
      <p:sp>
        <p:nvSpPr>
          <p:cNvPr id="3" name="Shape 1"/>
          <p:cNvSpPr/>
          <p:nvPr/>
        </p:nvSpPr>
        <p:spPr>
          <a:xfrm>
            <a:off x="-1114425" y="-2376487"/>
            <a:ext cx="16287750" cy="10591800"/>
          </a:xfrm>
          <a:prstGeom prst="rect">
            <a:avLst/>
          </a:prstGeom>
          <a:noFill/>
          <a:ln/>
        </p:spPr>
      </p:sp>
      <p:sp>
        <p:nvSpPr>
          <p:cNvPr id="4" name="Text 2"/>
          <p:cNvSpPr/>
          <p:nvPr/>
        </p:nvSpPr>
        <p:spPr>
          <a:xfrm>
            <a:off x="-47625" y="4467225"/>
            <a:ext cx="3924300" cy="233362"/>
          </a:xfrm>
          <a:prstGeom prst="rect">
            <a:avLst/>
          </a:prstGeom>
          <a:solidFill>
            <a:srgbClr val="F4BA46"/>
          </a:solidFill>
          <a:ln/>
        </p:spPr>
        <p:txBody>
          <a:bodyPr wrap="square" rtlCol="0" anchor="ctr"/>
          <a:lstStyle/>
          <a:p>
            <a:pPr indent="0" marL="0">
              <a:buNone/>
            </a:pPr>
            <a:endParaRPr lang="en-US" dirty="0"/>
          </a:p>
        </p:txBody>
      </p:sp>
      <p:sp>
        <p:nvSpPr>
          <p:cNvPr id="5" name="Text 3"/>
          <p:cNvSpPr/>
          <p:nvPr/>
        </p:nvSpPr>
        <p:spPr>
          <a:xfrm>
            <a:off x="-47625" y="4700588"/>
            <a:ext cx="3924300" cy="233362"/>
          </a:xfrm>
          <a:prstGeom prst="rect">
            <a:avLst/>
          </a:prstGeom>
          <a:solidFill>
            <a:srgbClr val="4034B0"/>
          </a:solidFill>
          <a:ln/>
        </p:spPr>
        <p:txBody>
          <a:bodyPr wrap="square" rtlCol="0" anchor="ctr"/>
          <a:lstStyle/>
          <a:p>
            <a:pPr indent="0" marL="0">
              <a:buNone/>
            </a:pPr>
            <a:endParaRPr lang="en-US" dirty="0"/>
          </a:p>
        </p:txBody>
      </p:sp>
      <p:sp>
        <p:nvSpPr>
          <p:cNvPr id="6" name="Text 4"/>
          <p:cNvSpPr/>
          <p:nvPr/>
        </p:nvSpPr>
        <p:spPr>
          <a:xfrm>
            <a:off x="-47625" y="4933950"/>
            <a:ext cx="3924300" cy="233362"/>
          </a:xfrm>
          <a:prstGeom prst="rect">
            <a:avLst/>
          </a:prstGeom>
          <a:solidFill>
            <a:srgbClr val="BC2062"/>
          </a:solidFill>
          <a:ln/>
        </p:spPr>
        <p:txBody>
          <a:bodyPr wrap="square" rtlCol="0" anchor="ctr"/>
          <a:lstStyle/>
          <a:p>
            <a:pPr indent="0" marL="0">
              <a:buNone/>
            </a:pPr>
            <a:endParaRPr lang="en-US" dirty="0"/>
          </a:p>
        </p:txBody>
      </p:sp>
      <p:sp>
        <p:nvSpPr>
          <p:cNvPr id="7" name="Shape 5"/>
          <p:cNvSpPr/>
          <p:nvPr/>
        </p:nvSpPr>
        <p:spPr>
          <a:xfrm>
            <a:off x="4291013" y="-6834187"/>
            <a:ext cx="16287750" cy="10591800"/>
          </a:xfrm>
          <a:prstGeom prst="rect">
            <a:avLst/>
          </a:prstGeom>
          <a:noFill/>
          <a:ln/>
        </p:spPr>
      </p:sp>
      <p:sp>
        <p:nvSpPr>
          <p:cNvPr id="8" name="Text 6"/>
          <p:cNvSpPr/>
          <p:nvPr/>
        </p:nvSpPr>
        <p:spPr>
          <a:xfrm>
            <a:off x="5357813" y="9525"/>
            <a:ext cx="3924300" cy="233362"/>
          </a:xfrm>
          <a:prstGeom prst="rect">
            <a:avLst/>
          </a:prstGeom>
          <a:solidFill>
            <a:srgbClr val="33176B"/>
          </a:solidFill>
          <a:ln/>
        </p:spPr>
        <p:txBody>
          <a:bodyPr wrap="square" rtlCol="0" anchor="ctr"/>
          <a:lstStyle/>
          <a:p>
            <a:pPr indent="0" marL="0">
              <a:buNone/>
            </a:pPr>
            <a:endParaRPr lang="en-US" dirty="0"/>
          </a:p>
        </p:txBody>
      </p:sp>
      <p:sp>
        <p:nvSpPr>
          <p:cNvPr id="9" name="Text 7"/>
          <p:cNvSpPr/>
          <p:nvPr/>
        </p:nvSpPr>
        <p:spPr>
          <a:xfrm>
            <a:off x="5357813" y="242888"/>
            <a:ext cx="3924300" cy="233362"/>
          </a:xfrm>
          <a:prstGeom prst="rect">
            <a:avLst/>
          </a:prstGeom>
          <a:solidFill>
            <a:srgbClr val="BC2062"/>
          </a:solidFill>
          <a:ln/>
        </p:spPr>
        <p:txBody>
          <a:bodyPr wrap="square" rtlCol="0" anchor="ctr"/>
          <a:lstStyle/>
          <a:p>
            <a:pPr indent="0" marL="0">
              <a:buNone/>
            </a:pPr>
            <a:endParaRPr lang="en-US" dirty="0"/>
          </a:p>
        </p:txBody>
      </p:sp>
      <p:sp>
        <p:nvSpPr>
          <p:cNvPr id="10" name="Text 8"/>
          <p:cNvSpPr/>
          <p:nvPr/>
        </p:nvSpPr>
        <p:spPr>
          <a:xfrm>
            <a:off x="5357813" y="476250"/>
            <a:ext cx="3924300" cy="233362"/>
          </a:xfrm>
          <a:prstGeom prst="rect">
            <a:avLst/>
          </a:prstGeom>
          <a:solidFill>
            <a:srgbClr val="F4BA46"/>
          </a:solidFill>
          <a:ln/>
        </p:spPr>
        <p:txBody>
          <a:bodyPr wrap="square"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2026-03-10T02:03:35Z</dcterms:created>
  <dcterms:modified xsi:type="dcterms:W3CDTF">2026-03-10T02:03:35Z</dcterms:modified>
</cp:coreProperties>
</file>